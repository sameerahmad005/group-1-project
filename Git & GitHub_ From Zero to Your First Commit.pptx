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</p:sldIdLst>
  <p:sldSz cx="12192000" cy="6858000"/>
  <p:notesSz cx="6858000" cy="9144000"/>
  <p:embeddedFontLst>
    <p:embeddedFont>
      <p:font typeface="Calibri" panose="020F0502020204030204" pitchFamily="34" charset="0"/>
      <p:regular r:id="rId47"/>
      <p:bold r:id="rId48"/>
      <p:italic r:id="rId49"/>
      <p:boldItalic r:id="rId50"/>
    </p:embeddedFont>
    <p:embeddedFont>
      <p:font typeface="DM Sans"/>
      <p:italic r:id="rId51"/>
    </p:embeddedFont>
    <p:embeddedFont>
      <p:font typeface="JetBrains Mono"/>
      <p:bold r:id="rId52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13" d="100"/>
          <a:sy n="113" d="100"/>
        </p:scale>
        <p:origin x="47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font" Target="fonts/font1.fntdata"/><Relationship Id="rId50" Type="http://schemas.openxmlformats.org/officeDocument/2006/relationships/font" Target="fonts/font4.fntdata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font" Target="fonts/font2.fntdata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font" Target="fonts/font5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3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9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4648200"/>
            <a:ext cx="10972800" cy="6953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09600" y="4648200"/>
            <a:ext cx="10972800" cy="9525"/>
          </a:xfrm>
          <a:prstGeom prst="rect">
            <a:avLst/>
          </a:prstGeom>
          <a:solidFill>
            <a:srgbClr val="2E3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09600" y="1514475"/>
            <a:ext cx="115824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2878D0"/>
                </a:solidFill>
                <a:latin typeface="JetBrains Mono"/>
              </a:rPr>
              <a:t>SECTION A // HANDS-ON DEVELOPER WORKSHOP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1905000"/>
            <a:ext cx="9301162" cy="1504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500" b="1" i="0" u="none">
                <a:solidFill>
                  <a:srgbClr val="F7F6F2"/>
                </a:solidFill>
                <a:latin typeface="DM Sans"/>
              </a:rPr>
              <a:t>Git &amp; GitHub: From Zero to Your First Commit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3600450"/>
            <a:ext cx="6953250" cy="590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A0A4AB"/>
                </a:solidFill>
                <a:latin typeface="DM Sans"/>
              </a:rPr>
              <a:t>Practical version control, command anatomy, and collaborative workflows for computer science students.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4886325"/>
            <a:ext cx="2583656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 dirty="0">
                <a:solidFill>
                  <a:srgbClr val="A0A4AB"/>
                </a:solidFill>
                <a:latin typeface="DM Sans"/>
              </a:rPr>
              <a:t>INSTRUCTOR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5095875"/>
            <a:ext cx="2583656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F7F6F2"/>
                </a:solidFill>
                <a:latin typeface="DM Sans"/>
              </a:rPr>
              <a:t>Sameer Ahmad Ansari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762250"/>
            <a:ext cx="5562600" cy="2295525"/>
          </a:xfrm>
          <a:prstGeom prst="roundRect">
            <a:avLst>
              <a:gd name="adj" fmla="val 3319"/>
            </a:avLst>
          </a:prstGeom>
          <a:solidFill>
            <a:srgbClr val="171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448050"/>
            <a:ext cx="190500" cy="1905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810000"/>
            <a:ext cx="190500" cy="1905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4171950"/>
            <a:ext cx="190500" cy="1905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4533900"/>
            <a:ext cx="190500" cy="1905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2878D0"/>
                </a:solidFill>
                <a:latin typeface="JetBrains Mono"/>
              </a:rPr>
              <a:t>02 // THE MOTIVATION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704850"/>
            <a:ext cx="11582400" cy="4476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191919"/>
                </a:solidFill>
                <a:latin typeface="DM Sans"/>
              </a:rPr>
              <a:t>The Version Control 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067050"/>
            <a:ext cx="619125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A0A4AB"/>
                </a:solidFill>
                <a:latin typeface="JetBrains Mono"/>
              </a:rPr>
              <a:t>~/Desktop/college-website/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419475"/>
            <a:ext cx="6191250" cy="247650"/>
          </a:xfrm>
          <a:prstGeom prst="rect">
            <a:avLst/>
          </a:prstGeom>
          <a:noFill/>
        </p:spPr>
        <p:txBody>
          <a:bodyPr wrap="none" lIns="30480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F7F6F2"/>
                </a:solidFill>
                <a:latin typeface="JetBrains Mono"/>
              </a:rPr>
              <a:t>project-final/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781425"/>
            <a:ext cx="6191250" cy="247650"/>
          </a:xfrm>
          <a:prstGeom prst="rect">
            <a:avLst/>
          </a:prstGeom>
          <a:noFill/>
        </p:spPr>
        <p:txBody>
          <a:bodyPr wrap="none" lIns="30480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F7F6F2"/>
                </a:solidFill>
                <a:latin typeface="JetBrains Mono"/>
              </a:rPr>
              <a:t>project-final-new/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143375"/>
            <a:ext cx="6191250" cy="247650"/>
          </a:xfrm>
          <a:prstGeom prst="rect">
            <a:avLst/>
          </a:prstGeom>
          <a:noFill/>
        </p:spPr>
        <p:txBody>
          <a:bodyPr wrap="none" lIns="30480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F7F6F2"/>
                </a:solidFill>
                <a:latin typeface="JetBrains Mono"/>
              </a:rPr>
              <a:t>project-final-final/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505325"/>
            <a:ext cx="6191250" cy="247650"/>
          </a:xfrm>
          <a:prstGeom prst="rect">
            <a:avLst/>
          </a:prstGeom>
          <a:noFill/>
        </p:spPr>
        <p:txBody>
          <a:bodyPr wrap="none" lIns="30480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D9534F"/>
                </a:solidFill>
                <a:latin typeface="JetBrains Mono"/>
              </a:rPr>
              <a:t>project-BROKEN-dont-touch/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2586037"/>
            <a:ext cx="5562600" cy="3238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950" b="1" i="0" u="none">
                <a:solidFill>
                  <a:srgbClr val="191919"/>
                </a:solidFill>
                <a:latin typeface="DM Sans"/>
              </a:rPr>
              <a:t>A Familiar Scenario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4681537"/>
            <a:ext cx="5048250" cy="552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2878D0"/>
                </a:solidFill>
                <a:latin typeface="DM Sans"/>
              </a:rPr>
              <a:t>Question: Is there a cleaner way to track code changes?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91325" y="3033712"/>
            <a:ext cx="66675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191919"/>
                </a:solidFill>
                <a:latin typeface="DM Sans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3062287"/>
            <a:ext cx="5334000" cy="247650"/>
          </a:xfrm>
          <a:prstGeom prst="rect">
            <a:avLst/>
          </a:prstGeom>
          <a:noFill/>
        </p:spPr>
        <p:txBody>
          <a:bodyPr wrap="none" lIns="66675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91919"/>
                </a:solidFill>
                <a:latin typeface="DM Sans"/>
              </a:rPr>
              <a:t>Step 1:</a:t>
            </a:r>
            <a:r>
              <a:rPr sz="1500" b="0" i="0" u="none">
                <a:solidFill>
                  <a:srgbClr val="191919"/>
                </a:solidFill>
                <a:latin typeface="DM Sans"/>
              </a:rPr>
              <a:t> Build working homepage layout.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91325" y="3414712"/>
            <a:ext cx="66675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191919"/>
                </a:solidFill>
                <a:latin typeface="DM Sans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0" y="3443287"/>
            <a:ext cx="5334000" cy="247650"/>
          </a:xfrm>
          <a:prstGeom prst="rect">
            <a:avLst/>
          </a:prstGeom>
          <a:noFill/>
        </p:spPr>
        <p:txBody>
          <a:bodyPr wrap="none" lIns="66675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91919"/>
                </a:solidFill>
                <a:latin typeface="DM Sans"/>
              </a:rPr>
              <a:t>Step 2:</a:t>
            </a:r>
            <a:r>
              <a:rPr sz="1500" b="0" i="0" u="none">
                <a:solidFill>
                  <a:srgbClr val="191919"/>
                </a:solidFill>
                <a:latin typeface="DM Sans"/>
              </a:rPr>
              <a:t> Add navigation bar code.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91325" y="3795712"/>
            <a:ext cx="66675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191919"/>
                </a:solidFill>
                <a:latin typeface="DM Sans"/>
              </a:rP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3824287"/>
            <a:ext cx="5334000" cy="247650"/>
          </a:xfrm>
          <a:prstGeom prst="rect">
            <a:avLst/>
          </a:prstGeom>
          <a:noFill/>
        </p:spPr>
        <p:txBody>
          <a:bodyPr wrap="none" lIns="66675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91919"/>
                </a:solidFill>
                <a:latin typeface="DM Sans"/>
              </a:rPr>
              <a:t>Step 3:</a:t>
            </a:r>
            <a:r>
              <a:rPr sz="1500" b="0" i="0" u="none">
                <a:solidFill>
                  <a:srgbClr val="191919"/>
                </a:solidFill>
                <a:latin typeface="DM Sans"/>
              </a:rPr>
              <a:t> CSS breaks entire page structure.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91325" y="4176712"/>
            <a:ext cx="66675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191919"/>
                </a:solidFill>
                <a:latin typeface="DM Sans"/>
              </a:rPr>
              <a:t>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4205287"/>
            <a:ext cx="5334000" cy="247650"/>
          </a:xfrm>
          <a:prstGeom prst="rect">
            <a:avLst/>
          </a:prstGeom>
          <a:noFill/>
        </p:spPr>
        <p:txBody>
          <a:bodyPr wrap="none" lIns="66675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91919"/>
                </a:solidFill>
                <a:latin typeface="DM Sans"/>
              </a:rPr>
              <a:t>Problem:</a:t>
            </a:r>
            <a:r>
              <a:rPr sz="1500" b="0" i="0" u="none">
                <a:solidFill>
                  <a:srgbClr val="191919"/>
                </a:solidFill>
                <a:latin typeface="DM Sans"/>
              </a:rPr>
              <a:t> Earlier working state is lost.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2862262"/>
            <a:ext cx="38100" cy="742950"/>
          </a:xfrm>
          <a:prstGeom prst="rect">
            <a:avLst/>
          </a:prstGeom>
          <a:solidFill>
            <a:srgbClr val="2878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3986212"/>
            <a:ext cx="2628900" cy="971550"/>
          </a:xfrm>
          <a:prstGeom prst="roundRect">
            <a:avLst>
              <a:gd name="adj" fmla="val 7843"/>
            </a:avLst>
          </a:prstGeom>
          <a:solidFill>
            <a:srgbClr val="EFEC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3390900" y="3986212"/>
            <a:ext cx="2628900" cy="971550"/>
          </a:xfrm>
          <a:prstGeom prst="roundRect">
            <a:avLst>
              <a:gd name="adj" fmla="val 7843"/>
            </a:avLst>
          </a:prstGeom>
          <a:solidFill>
            <a:srgbClr val="EFEC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172200" y="3986212"/>
            <a:ext cx="2628900" cy="971550"/>
          </a:xfrm>
          <a:prstGeom prst="roundRect">
            <a:avLst>
              <a:gd name="adj" fmla="val 7843"/>
            </a:avLst>
          </a:prstGeom>
          <a:solidFill>
            <a:srgbClr val="EFEC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953500" y="3986212"/>
            <a:ext cx="2628900" cy="971550"/>
          </a:xfrm>
          <a:prstGeom prst="roundRect">
            <a:avLst>
              <a:gd name="adj" fmla="val 7843"/>
            </a:avLst>
          </a:prstGeom>
          <a:solidFill>
            <a:srgbClr val="EFEC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2878D0"/>
                </a:solidFill>
                <a:latin typeface="JetBrains Mono"/>
              </a:rPr>
              <a:t>03 // DEFINITION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704850"/>
            <a:ext cx="11582400" cy="4476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191919"/>
                </a:solidFill>
                <a:latin typeface="DM Sans"/>
              </a:rPr>
              <a:t>What Is Git?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8200" y="2862262"/>
            <a:ext cx="10839450" cy="742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50" b="0" i="0" u="none">
                <a:solidFill>
                  <a:srgbClr val="191919"/>
                </a:solidFill>
                <a:latin typeface="DM Sans"/>
              </a:rPr>
              <a:t>"Git is a distributed version control system that tracks project changes and maintains a complete history of commits."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4214812"/>
            <a:ext cx="2714625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2878D0"/>
                </a:solidFill>
                <a:latin typeface="JetBrains Mono"/>
              </a:rPr>
              <a:t>SNAPSHOT 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200" y="4481512"/>
            <a:ext cx="2850356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91919"/>
                </a:solidFill>
                <a:latin typeface="DM Sans"/>
              </a:rPr>
              <a:t>Create Homepage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19500" y="4214812"/>
            <a:ext cx="2714625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2878D0"/>
                </a:solidFill>
                <a:latin typeface="JetBrains Mono"/>
              </a:rPr>
              <a:t>SNAPSHOT 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19500" y="4481512"/>
            <a:ext cx="2850356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91919"/>
                </a:solidFill>
                <a:latin typeface="DM Sans"/>
              </a:rPr>
              <a:t>Add Navbar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214812"/>
            <a:ext cx="2714625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2878D0"/>
                </a:solidFill>
                <a:latin typeface="JetBrains Mono"/>
              </a:rPr>
              <a:t>SNAPSHOT 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4481512"/>
            <a:ext cx="2850356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91919"/>
                </a:solidFill>
                <a:latin typeface="DM Sans"/>
              </a:rPr>
              <a:t>Fix Validation Bug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82100" y="4214812"/>
            <a:ext cx="2714625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2878D0"/>
                </a:solidFill>
                <a:latin typeface="JetBrains Mono"/>
              </a:rPr>
              <a:t>SNAPSHOT 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82100" y="4481512"/>
            <a:ext cx="2850356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91919"/>
                </a:solidFill>
                <a:latin typeface="DM Sans"/>
              </a:rPr>
              <a:t>Improve Layout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2878D0"/>
                </a:solidFill>
                <a:latin typeface="JetBrains Mono"/>
              </a:rPr>
              <a:t>04 // ENGINEERING VALUE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704850"/>
            <a:ext cx="11582400" cy="4476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191919"/>
                </a:solidFill>
                <a:latin typeface="DM Sans"/>
              </a:rPr>
              <a:t>Why Developers Use Git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2833687"/>
            <a:ext cx="43815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2878D0"/>
                </a:solidFill>
                <a:latin typeface="JetBrains Mono"/>
              </a:rPr>
              <a:t>01 // TRACKING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3090862"/>
            <a:ext cx="4600575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191919"/>
                </a:solidFill>
                <a:latin typeface="DM Sans"/>
              </a:rPr>
              <a:t>Change Tracking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3424237"/>
            <a:ext cx="438150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525252"/>
                </a:solidFill>
                <a:latin typeface="DM Sans"/>
              </a:rPr>
              <a:t>See exact line modifications.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43400" y="2833687"/>
            <a:ext cx="43815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2878D0"/>
                </a:solidFill>
                <a:latin typeface="JetBrains Mono"/>
              </a:rPr>
              <a:t>02 // AUDIT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43400" y="3090862"/>
            <a:ext cx="4600575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191919"/>
                </a:solidFill>
                <a:latin typeface="DM Sans"/>
              </a:rPr>
              <a:t>Commit History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43400" y="3424237"/>
            <a:ext cx="438150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525252"/>
                </a:solidFill>
                <a:latin typeface="DM Sans"/>
              </a:rPr>
              <a:t>Author and timestamp records.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77200" y="2833687"/>
            <a:ext cx="41148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2878D0"/>
                </a:solidFill>
                <a:latin typeface="JetBrains Mono"/>
              </a:rPr>
              <a:t>03 // ROLLBACK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77200" y="3090862"/>
            <a:ext cx="4114800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191919"/>
                </a:solidFill>
                <a:latin typeface="DM Sans"/>
              </a:rPr>
              <a:t>Version Recovery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77200" y="3424237"/>
            <a:ext cx="411480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525252"/>
                </a:solidFill>
                <a:latin typeface="DM Sans"/>
              </a:rPr>
              <a:t>Restore working code states.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4167187"/>
            <a:ext cx="43815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2878D0"/>
                </a:solidFill>
                <a:latin typeface="JetBrains Mono"/>
              </a:rPr>
              <a:t>04 // ISOLATION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600" y="4424362"/>
            <a:ext cx="4600575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191919"/>
                </a:solidFill>
                <a:latin typeface="DM Sans"/>
              </a:rPr>
              <a:t>Branch Workflows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4757737"/>
            <a:ext cx="438150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525252"/>
                </a:solidFill>
                <a:latin typeface="DM Sans"/>
              </a:rPr>
              <a:t>Build features without risk.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43400" y="4167187"/>
            <a:ext cx="43815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2878D0"/>
                </a:solidFill>
                <a:latin typeface="JetBrains Mono"/>
              </a:rPr>
              <a:t>05 // TEAMWORK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43400" y="4424362"/>
            <a:ext cx="4600575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191919"/>
                </a:solidFill>
                <a:latin typeface="DM Sans"/>
              </a:rPr>
              <a:t>Team Collaboration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43400" y="4757737"/>
            <a:ext cx="438150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525252"/>
                </a:solidFill>
                <a:latin typeface="DM Sans"/>
              </a:rPr>
              <a:t>Combine code across developers.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77200" y="4167187"/>
            <a:ext cx="41148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2878D0"/>
                </a:solidFill>
                <a:latin typeface="JetBrains Mono"/>
              </a:rPr>
              <a:t>06 // CONFIDENCE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77200" y="4424362"/>
            <a:ext cx="4114800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191919"/>
                </a:solidFill>
                <a:latin typeface="DM Sans"/>
              </a:rPr>
              <a:t>Safer Experiments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77200" y="4757737"/>
            <a:ext cx="411480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525252"/>
                </a:solidFill>
                <a:latin typeface="DM Sans"/>
              </a:rPr>
              <a:t>Test new ideas fearlessly.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2878D0"/>
                </a:solidFill>
                <a:latin typeface="JetBrains Mono"/>
              </a:rPr>
              <a:t>05 // DISTINCTION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704850"/>
            <a:ext cx="11582400" cy="4476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191919"/>
                </a:solidFill>
                <a:latin typeface="DM Sans"/>
              </a:rPr>
              <a:t>Git vs GitHub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2876550"/>
            <a:ext cx="6594574" cy="3524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191919"/>
                </a:solidFill>
                <a:latin typeface="DM Sans"/>
              </a:rPr>
              <a:t>Git (Local Tool)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57962" y="2876550"/>
            <a:ext cx="5634037" cy="3524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2878D0"/>
                </a:solidFill>
                <a:latin typeface="DM Sans"/>
              </a:rPr>
              <a:t>GitHub (Cloud Platform)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1525" y="3390900"/>
            <a:ext cx="66675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191919"/>
                </a:solidFill>
                <a:latin typeface="DM Sans"/>
              </a:rP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8200" y="3419475"/>
            <a:ext cx="5994796" cy="247650"/>
          </a:xfrm>
          <a:prstGeom prst="rect">
            <a:avLst/>
          </a:prstGeom>
          <a:noFill/>
        </p:spPr>
        <p:txBody>
          <a:bodyPr wrap="none" lIns="66675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91919"/>
                </a:solidFill>
                <a:latin typeface="DM Sans"/>
              </a:rPr>
              <a:t>Core Role:</a:t>
            </a:r>
            <a:r>
              <a:rPr sz="1500" b="0" i="0" u="none">
                <a:solidFill>
                  <a:srgbClr val="191919"/>
                </a:solidFill>
                <a:latin typeface="DM Sans"/>
              </a:rPr>
              <a:t> Distributed version control engine.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1525" y="3771900"/>
            <a:ext cx="66675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191919"/>
                </a:solidFill>
                <a:latin typeface="DM Sans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8200" y="3800475"/>
            <a:ext cx="5994796" cy="247650"/>
          </a:xfrm>
          <a:prstGeom prst="rect">
            <a:avLst/>
          </a:prstGeom>
          <a:noFill/>
        </p:spPr>
        <p:txBody>
          <a:bodyPr wrap="none" lIns="66675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91919"/>
                </a:solidFill>
                <a:latin typeface="DM Sans"/>
              </a:rPr>
              <a:t>Execution:</a:t>
            </a:r>
            <a:r>
              <a:rPr sz="1500" b="0" i="0" u="none">
                <a:solidFill>
                  <a:srgbClr val="191919"/>
                </a:solidFill>
                <a:latin typeface="DM Sans"/>
              </a:rPr>
              <a:t> Runs locally on your computer.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1525" y="4152900"/>
            <a:ext cx="66675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191919"/>
                </a:solidFill>
                <a:latin typeface="DM Sans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200" y="4181475"/>
            <a:ext cx="5994796" cy="247650"/>
          </a:xfrm>
          <a:prstGeom prst="rect">
            <a:avLst/>
          </a:prstGeom>
          <a:noFill/>
        </p:spPr>
        <p:txBody>
          <a:bodyPr wrap="none" lIns="66675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91919"/>
                </a:solidFill>
                <a:latin typeface="DM Sans"/>
              </a:rPr>
              <a:t>Internet:</a:t>
            </a:r>
            <a:r>
              <a:rPr sz="1500" b="0" i="0" u="none">
                <a:solidFill>
                  <a:srgbClr val="191919"/>
                </a:solidFill>
                <a:latin typeface="DM Sans"/>
              </a:rPr>
              <a:t> Works completely offline.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1525" y="4533900"/>
            <a:ext cx="66675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191919"/>
                </a:solidFill>
                <a:latin typeface="DM Sans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8200" y="4562475"/>
            <a:ext cx="5994796" cy="247650"/>
          </a:xfrm>
          <a:prstGeom prst="rect">
            <a:avLst/>
          </a:prstGeom>
          <a:noFill/>
        </p:spPr>
        <p:txBody>
          <a:bodyPr wrap="none" lIns="66675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91919"/>
                </a:solidFill>
                <a:latin typeface="DM Sans"/>
              </a:rPr>
              <a:t>Account:</a:t>
            </a:r>
            <a:r>
              <a:rPr sz="1500" b="0" i="0" u="none">
                <a:solidFill>
                  <a:srgbClr val="191919"/>
                </a:solidFill>
                <a:latin typeface="DM Sans"/>
              </a:rPr>
              <a:t> Requires zero cloud registration.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19887" y="3390900"/>
            <a:ext cx="66675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191919"/>
                </a:solidFill>
                <a:latin typeface="DM Sans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86562" y="3419475"/>
            <a:ext cx="5405437" cy="247650"/>
          </a:xfrm>
          <a:prstGeom prst="rect">
            <a:avLst/>
          </a:prstGeom>
          <a:noFill/>
        </p:spPr>
        <p:txBody>
          <a:bodyPr wrap="none" lIns="66675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91919"/>
                </a:solidFill>
                <a:latin typeface="DM Sans"/>
              </a:rPr>
              <a:t>Core Role:</a:t>
            </a:r>
            <a:r>
              <a:rPr sz="1500" b="0" i="0" u="none">
                <a:solidFill>
                  <a:srgbClr val="191919"/>
                </a:solidFill>
                <a:latin typeface="DM Sans"/>
              </a:rPr>
              <a:t> Hosts Git repositories online.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19887" y="3771900"/>
            <a:ext cx="66675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191919"/>
                </a:solidFill>
                <a:latin typeface="DM Sans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86562" y="3800475"/>
            <a:ext cx="5405437" cy="247650"/>
          </a:xfrm>
          <a:prstGeom prst="rect">
            <a:avLst/>
          </a:prstGeom>
          <a:noFill/>
        </p:spPr>
        <p:txBody>
          <a:bodyPr wrap="none" lIns="66675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91919"/>
                </a:solidFill>
                <a:latin typeface="DM Sans"/>
              </a:rPr>
              <a:t>Collaboration:</a:t>
            </a:r>
            <a:r>
              <a:rPr sz="1500" b="0" i="0" u="none">
                <a:solidFill>
                  <a:srgbClr val="191919"/>
                </a:solidFill>
                <a:latin typeface="DM Sans"/>
              </a:rPr>
              <a:t> Pull requests, issues, code reviews.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19887" y="4152900"/>
            <a:ext cx="66675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191919"/>
                </a:solidFill>
                <a:latin typeface="DM Sans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86562" y="4181475"/>
            <a:ext cx="5405437" cy="247650"/>
          </a:xfrm>
          <a:prstGeom prst="rect">
            <a:avLst/>
          </a:prstGeom>
          <a:noFill/>
        </p:spPr>
        <p:txBody>
          <a:bodyPr wrap="none" lIns="66675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91919"/>
                </a:solidFill>
                <a:latin typeface="DM Sans"/>
              </a:rPr>
              <a:t>Internet:</a:t>
            </a:r>
            <a:r>
              <a:rPr sz="1500" b="0" i="0" u="none">
                <a:solidFill>
                  <a:srgbClr val="191919"/>
                </a:solidFill>
                <a:latin typeface="DM Sans"/>
              </a:rPr>
              <a:t> Requires network for syncing.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19887" y="4533900"/>
            <a:ext cx="66675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191919"/>
                </a:solidFill>
                <a:latin typeface="DM Sans"/>
              </a:rP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86562" y="4562475"/>
            <a:ext cx="5405437" cy="247650"/>
          </a:xfrm>
          <a:prstGeom prst="rect">
            <a:avLst/>
          </a:prstGeom>
          <a:noFill/>
        </p:spPr>
        <p:txBody>
          <a:bodyPr wrap="none" lIns="66675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91919"/>
                </a:solidFill>
                <a:latin typeface="DM Sans"/>
              </a:rPr>
              <a:t>Alternatives:</a:t>
            </a:r>
            <a:r>
              <a:rPr sz="1500" b="0" i="0" u="none">
                <a:solidFill>
                  <a:srgbClr val="191919"/>
                </a:solidFill>
                <a:latin typeface="DM Sans"/>
              </a:rPr>
              <a:t> GitLab, Bitbucket, Codeberg.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2878D0"/>
                </a:solidFill>
                <a:latin typeface="JetBrains Mono"/>
              </a:rPr>
              <a:t>06 //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704850"/>
            <a:ext cx="11582400" cy="4476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191919"/>
                </a:solidFill>
                <a:latin typeface="DM Sans"/>
              </a:rPr>
              <a:t>How Git Works: Core Architecture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2314575"/>
            <a:ext cx="2567433" cy="9525"/>
          </a:xfrm>
          <a:prstGeom prst="rect">
            <a:avLst/>
          </a:prstGeom>
          <a:solidFill>
            <a:srgbClr val="DD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177033" y="2314575"/>
            <a:ext cx="8405366" cy="9525"/>
          </a:xfrm>
          <a:prstGeom prst="rect">
            <a:avLst/>
          </a:prstGeom>
          <a:solidFill>
            <a:srgbClr val="DD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09600" y="2828925"/>
            <a:ext cx="2567433" cy="9525"/>
          </a:xfrm>
          <a:prstGeom prst="rect">
            <a:avLst/>
          </a:prstGeom>
          <a:solidFill>
            <a:srgbClr val="DD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177033" y="2828925"/>
            <a:ext cx="8405366" cy="9525"/>
          </a:xfrm>
          <a:prstGeom prst="rect">
            <a:avLst/>
          </a:prstGeom>
          <a:solidFill>
            <a:srgbClr val="DD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09600" y="3343275"/>
            <a:ext cx="2567433" cy="9525"/>
          </a:xfrm>
          <a:prstGeom prst="rect">
            <a:avLst/>
          </a:prstGeom>
          <a:solidFill>
            <a:srgbClr val="DD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177033" y="3343275"/>
            <a:ext cx="8405366" cy="9525"/>
          </a:xfrm>
          <a:prstGeom prst="rect">
            <a:avLst/>
          </a:prstGeom>
          <a:solidFill>
            <a:srgbClr val="DD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09600" y="3857625"/>
            <a:ext cx="2567433" cy="9525"/>
          </a:xfrm>
          <a:prstGeom prst="rect">
            <a:avLst/>
          </a:prstGeom>
          <a:solidFill>
            <a:srgbClr val="DD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177033" y="3857625"/>
            <a:ext cx="8405366" cy="9525"/>
          </a:xfrm>
          <a:prstGeom prst="rect">
            <a:avLst/>
          </a:prstGeom>
          <a:solidFill>
            <a:srgbClr val="DD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09600" y="4371975"/>
            <a:ext cx="2567433" cy="9525"/>
          </a:xfrm>
          <a:prstGeom prst="rect">
            <a:avLst/>
          </a:prstGeom>
          <a:solidFill>
            <a:srgbClr val="DD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177033" y="4371975"/>
            <a:ext cx="8405366" cy="9525"/>
          </a:xfrm>
          <a:prstGeom prst="rect">
            <a:avLst/>
          </a:prstGeom>
          <a:solidFill>
            <a:srgbClr val="DD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09600" y="4886325"/>
            <a:ext cx="2567433" cy="9525"/>
          </a:xfrm>
          <a:prstGeom prst="rect">
            <a:avLst/>
          </a:prstGeom>
          <a:solidFill>
            <a:srgbClr val="DD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177033" y="4886325"/>
            <a:ext cx="8405366" cy="9525"/>
          </a:xfrm>
          <a:prstGeom prst="rect">
            <a:avLst/>
          </a:prstGeom>
          <a:solidFill>
            <a:srgbClr val="DD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09600" y="5400675"/>
            <a:ext cx="2567433" cy="9525"/>
          </a:xfrm>
          <a:prstGeom prst="rect">
            <a:avLst/>
          </a:prstGeom>
          <a:solidFill>
            <a:srgbClr val="DD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177033" y="5400675"/>
            <a:ext cx="8405366" cy="9525"/>
          </a:xfrm>
          <a:prstGeom prst="rect">
            <a:avLst/>
          </a:prstGeom>
          <a:solidFill>
            <a:srgbClr val="DD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09600" y="5915025"/>
            <a:ext cx="2567433" cy="9525"/>
          </a:xfrm>
          <a:prstGeom prst="rect">
            <a:avLst/>
          </a:prstGeom>
          <a:solidFill>
            <a:srgbClr val="DD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177033" y="5915025"/>
            <a:ext cx="8405366" cy="9525"/>
          </a:xfrm>
          <a:prstGeom prst="rect">
            <a:avLst/>
          </a:prstGeom>
          <a:solidFill>
            <a:srgbClr val="DD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609600" y="1814512"/>
          <a:ext cx="10972799" cy="4114800"/>
        </p:xfrm>
        <a:graphic>
          <a:graphicData uri="http://schemas.openxmlformats.org/drawingml/2006/table">
            <a:tbl>
              <a:tblPr/>
              <a:tblGrid>
                <a:gridCol w="25674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053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4350">
                <a:tc>
                  <a:txBody>
                    <a:bodyPr/>
                    <a:lstStyle/>
                    <a:p>
                      <a:pPr algn="l"/>
                      <a:r>
                        <a:rPr sz="1425" b="1" i="0" u="none">
                          <a:solidFill>
                            <a:srgbClr val="191919"/>
                          </a:solidFill>
                          <a:latin typeface="DM Sans"/>
                        </a:rPr>
                        <a:t>Term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EC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25" b="1" i="0" u="none">
                          <a:solidFill>
                            <a:srgbClr val="191919"/>
                          </a:solidFill>
                          <a:latin typeface="DM Sans"/>
                        </a:rPr>
                        <a:t>Plain-English Meaning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EC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algn="l"/>
                      <a:r>
                        <a:rPr sz="1425" b="1" i="0" u="none">
                          <a:solidFill>
                            <a:srgbClr val="191919"/>
                          </a:solidFill>
                          <a:latin typeface="DM Sans"/>
                        </a:rPr>
                        <a:t>Repository (Repo)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25" b="0" i="0" u="none">
                          <a:solidFill>
                            <a:srgbClr val="191919"/>
                          </a:solidFill>
                          <a:latin typeface="DM Sans"/>
                        </a:rPr>
                        <a:t>Project directory tracked by Git alongside its hidden history database.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algn="l"/>
                      <a:r>
                        <a:rPr sz="1425" b="1" i="0" u="none">
                          <a:solidFill>
                            <a:srgbClr val="191919"/>
                          </a:solidFill>
                          <a:latin typeface="DM Sans"/>
                        </a:rPr>
                        <a:t>Commit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25" b="0" i="0" u="none">
                          <a:solidFill>
                            <a:srgbClr val="191919"/>
                          </a:solidFill>
                          <a:latin typeface="DM Sans"/>
                        </a:rPr>
                        <a:t>Saved snapshot of staged changes with a unique ID and message.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algn="l"/>
                      <a:r>
                        <a:rPr sz="1425" b="1" i="0" u="none">
                          <a:solidFill>
                            <a:srgbClr val="191919"/>
                          </a:solidFill>
                          <a:latin typeface="DM Sans"/>
                        </a:rPr>
                        <a:t>Staging Area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25" b="0" i="0" u="none">
                          <a:solidFill>
                            <a:srgbClr val="191919"/>
                          </a:solidFill>
                          <a:latin typeface="DM Sans"/>
                        </a:rPr>
                        <a:t>Holding zone where selected edits wait before becoming a commit.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algn="l"/>
                      <a:r>
                        <a:rPr sz="1425" b="1" i="0" u="none">
                          <a:solidFill>
                            <a:srgbClr val="191919"/>
                          </a:solidFill>
                          <a:latin typeface="DM Sans"/>
                        </a:rPr>
                        <a:t>Tracked File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25" b="0" i="0" u="none">
                          <a:solidFill>
                            <a:srgbClr val="191919"/>
                          </a:solidFill>
                          <a:latin typeface="DM Sans"/>
                        </a:rPr>
                        <a:t>File previously committed or staged that Git actively monitors.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algn="l"/>
                      <a:r>
                        <a:rPr sz="1425" b="1" i="0" u="none">
                          <a:solidFill>
                            <a:srgbClr val="191919"/>
                          </a:solidFill>
                          <a:latin typeface="DM Sans"/>
                        </a:rPr>
                        <a:t>Untracked File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25" b="0" i="0" u="none">
                          <a:solidFill>
                            <a:srgbClr val="191919"/>
                          </a:solidFill>
                          <a:latin typeface="DM Sans"/>
                        </a:rPr>
                        <a:t>New file in the folder not yet registered with Git.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algn="l"/>
                      <a:r>
                        <a:rPr sz="1425" b="1" i="0" u="none">
                          <a:solidFill>
                            <a:srgbClr val="191919"/>
                          </a:solidFill>
                          <a:latin typeface="DM Sans"/>
                        </a:rPr>
                        <a:t>Branch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25" b="0" i="0" u="none">
                          <a:solidFill>
                            <a:srgbClr val="191919"/>
                          </a:solidFill>
                          <a:latin typeface="DM Sans"/>
                        </a:rPr>
                        <a:t>Independent line of development used to isolate feature work.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algn="l"/>
                      <a:r>
                        <a:rPr sz="1425" b="1" i="0" u="none">
                          <a:solidFill>
                            <a:srgbClr val="191919"/>
                          </a:solidFill>
                          <a:latin typeface="DM Sans"/>
                        </a:rPr>
                        <a:t>Remote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25" b="0" i="0" u="none">
                          <a:solidFill>
                            <a:srgbClr val="191919"/>
                          </a:solidFill>
                          <a:latin typeface="DM Sans"/>
                        </a:rPr>
                        <a:t>External copy of your repository hosted on a server like GitHub.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2878D0"/>
                </a:solidFill>
                <a:latin typeface="JetBrains Mono"/>
              </a:rPr>
              <a:t>07 // TERMINOLOGY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9600" y="704850"/>
            <a:ext cx="11582400" cy="4476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191919"/>
                </a:solidFill>
                <a:latin typeface="DM Sans"/>
              </a:rPr>
              <a:t>Essential Git Vocabulary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3281362"/>
            <a:ext cx="5562600" cy="1257300"/>
          </a:xfrm>
          <a:prstGeom prst="roundRect">
            <a:avLst>
              <a:gd name="adj" fmla="val 6060"/>
            </a:avLst>
          </a:prstGeom>
          <a:solidFill>
            <a:srgbClr val="171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2878D0"/>
                </a:solidFill>
                <a:latin typeface="JetBrains Mono"/>
              </a:rPr>
              <a:t>08 // SECTION B: SETUP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704850"/>
            <a:ext cx="11582400" cy="4476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191919"/>
                </a:solidFill>
                <a:latin typeface="DM Sans"/>
              </a:rPr>
              <a:t>Check Git Installation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586162"/>
            <a:ext cx="6191250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2878D0"/>
                </a:solidFill>
                <a:latin typeface="JetBrains Mono"/>
              </a:rPr>
              <a:t>$ git --version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986212"/>
            <a:ext cx="1339790" cy="2308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 dirty="0">
                <a:solidFill>
                  <a:srgbClr val="A0A4AB"/>
                </a:solidFill>
                <a:latin typeface="JetBrains Mono"/>
              </a:rPr>
              <a:t>git version 2.</a:t>
            </a:r>
            <a:r>
              <a:rPr lang="en-US" sz="1500" b="0" i="0" u="none" dirty="0">
                <a:solidFill>
                  <a:srgbClr val="A0A4AB"/>
                </a:solidFill>
                <a:latin typeface="JetBrains Mono"/>
              </a:rPr>
              <a:t>53</a:t>
            </a:r>
            <a:r>
              <a:rPr sz="1500" b="0" i="0" u="none" dirty="0">
                <a:solidFill>
                  <a:srgbClr val="A0A4AB"/>
                </a:solidFill>
                <a:latin typeface="JetBrains Mono"/>
              </a:rPr>
              <a:t>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91325" y="2747962"/>
            <a:ext cx="66675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191919"/>
                </a:solidFill>
                <a:latin typeface="DM Sans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0" y="2776537"/>
            <a:ext cx="5334000" cy="247650"/>
          </a:xfrm>
          <a:prstGeom prst="rect">
            <a:avLst/>
          </a:prstGeom>
          <a:noFill/>
        </p:spPr>
        <p:txBody>
          <a:bodyPr wrap="none" lIns="66675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91919"/>
                </a:solidFill>
                <a:latin typeface="DM Sans"/>
              </a:rPr>
              <a:t>git:</a:t>
            </a:r>
            <a:r>
              <a:rPr sz="1500" b="0" i="0" u="none">
                <a:solidFill>
                  <a:srgbClr val="191919"/>
                </a:solidFill>
                <a:latin typeface="DM Sans"/>
              </a:rPr>
              <a:t> Invokes the Git command-line executable.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91325" y="3128962"/>
            <a:ext cx="66675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191919"/>
                </a:solidFill>
                <a:latin typeface="DM Sans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3157537"/>
            <a:ext cx="4819650" cy="495300"/>
          </a:xfrm>
          <a:prstGeom prst="rect">
            <a:avLst/>
          </a:prstGeom>
          <a:noFill/>
        </p:spPr>
        <p:txBody>
          <a:bodyPr wrap="square" lIns="66675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91919"/>
                </a:solidFill>
                <a:latin typeface="DM Sans"/>
              </a:rPr>
              <a:t>--version:</a:t>
            </a:r>
            <a:r>
              <a:rPr sz="1500" b="0" i="0" u="none">
                <a:solidFill>
                  <a:srgbClr val="191919"/>
                </a:solidFill>
                <a:latin typeface="DM Sans"/>
              </a:rPr>
              <a:t> Option flag requesting installed software release.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91325" y="3757612"/>
            <a:ext cx="66675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191919"/>
                </a:solidFill>
                <a:latin typeface="DM Sans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3786187"/>
            <a:ext cx="4819650" cy="495300"/>
          </a:xfrm>
          <a:prstGeom prst="rect">
            <a:avLst/>
          </a:prstGeom>
          <a:noFill/>
        </p:spPr>
        <p:txBody>
          <a:bodyPr wrap="square" lIns="66675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91919"/>
                </a:solidFill>
                <a:latin typeface="DM Sans"/>
              </a:rPr>
              <a:t>Expected Output:</a:t>
            </a:r>
            <a:r>
              <a:rPr sz="1500" b="0" i="0" u="none">
                <a:solidFill>
                  <a:srgbClr val="191919"/>
                </a:solidFill>
                <a:latin typeface="DM Sans"/>
              </a:rPr>
              <a:t> Prints version number if installed properly.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91325" y="4386262"/>
            <a:ext cx="66675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191919"/>
                </a:solidFill>
                <a:latin typeface="DM Sans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4414837"/>
            <a:ext cx="4819650" cy="495300"/>
          </a:xfrm>
          <a:prstGeom prst="rect">
            <a:avLst/>
          </a:prstGeom>
          <a:noFill/>
        </p:spPr>
        <p:txBody>
          <a:bodyPr wrap="square" lIns="66675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91919"/>
                </a:solidFill>
                <a:latin typeface="DM Sans"/>
              </a:rPr>
              <a:t>If Missing:</a:t>
            </a:r>
            <a:r>
              <a:rPr sz="1500" b="0" i="0" u="none">
                <a:solidFill>
                  <a:srgbClr val="191919"/>
                </a:solidFill>
                <a:latin typeface="DM Sans"/>
              </a:rPr>
              <a:t> Install from git-scm.com and restart terminal.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914650"/>
            <a:ext cx="10972800" cy="866775"/>
          </a:xfrm>
          <a:prstGeom prst="roundRect">
            <a:avLst>
              <a:gd name="adj" fmla="val 8791"/>
            </a:avLst>
          </a:prstGeom>
          <a:solidFill>
            <a:srgbClr val="171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2878D0"/>
                </a:solidFill>
                <a:latin typeface="JetBrains Mono"/>
              </a:rPr>
              <a:t>09 // IDENTITY SETUP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704850"/>
            <a:ext cx="11582400" cy="4476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191919"/>
                </a:solidFill>
                <a:latin typeface="DM Sans"/>
              </a:rPr>
              <a:t>Configure Author Name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181350"/>
            <a:ext cx="11277600" cy="3333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950" b="0" i="0" u="none">
                <a:solidFill>
                  <a:srgbClr val="F7F6F2"/>
                </a:solidFill>
                <a:latin typeface="JetBrains Mono"/>
              </a:rPr>
              <a:t>$ git config --global user.name "Your Name"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4124325"/>
            <a:ext cx="3214687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2878D0"/>
                </a:solidFill>
                <a:latin typeface="JetBrains Mono"/>
              </a:rPr>
              <a:t>config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4448175"/>
            <a:ext cx="2667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525252"/>
                </a:solidFill>
                <a:latin typeface="DM Sans"/>
              </a:rPr>
              <a:t>Subcommand that views or modifies Git settings.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09950" y="4124325"/>
            <a:ext cx="3214687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2878D0"/>
                </a:solidFill>
                <a:latin typeface="JetBrains Mono"/>
              </a:rPr>
              <a:t>--global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09950" y="4448175"/>
            <a:ext cx="2667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525252"/>
                </a:solidFill>
                <a:latin typeface="DM Sans"/>
              </a:rPr>
              <a:t>Applies setting across all repositories for current user.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0300" y="4124325"/>
            <a:ext cx="3214687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2878D0"/>
                </a:solidFill>
                <a:latin typeface="JetBrains Mono"/>
              </a:rPr>
              <a:t>user.name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0300" y="4448175"/>
            <a:ext cx="2667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525252"/>
                </a:solidFill>
                <a:latin typeface="DM Sans"/>
              </a:rPr>
              <a:t>Configuration key storing the commit author name.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10650" y="4124325"/>
            <a:ext cx="3181350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2878D0"/>
                </a:solidFill>
                <a:latin typeface="JetBrains Mono"/>
              </a:rPr>
              <a:t>"Your Name"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10650" y="4448175"/>
            <a:ext cx="2667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525252"/>
                </a:solidFill>
                <a:latin typeface="DM Sans"/>
              </a:rPr>
              <a:t>String value attached to every future commit.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19800" y="3190875"/>
            <a:ext cx="5562600" cy="1438275"/>
          </a:xfrm>
          <a:prstGeom prst="roundRect">
            <a:avLst>
              <a:gd name="adj" fmla="val 5298"/>
            </a:avLst>
          </a:prstGeom>
          <a:solidFill>
            <a:srgbClr val="171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2878D0"/>
                </a:solidFill>
                <a:latin typeface="JetBrains Mono"/>
              </a:rPr>
              <a:t>10 // IDENTITY SETUP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704850"/>
            <a:ext cx="11582400" cy="4476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191919"/>
                </a:solidFill>
                <a:latin typeface="DM Sans"/>
              </a:rPr>
              <a:t>Configure Author Email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24600" y="3495675"/>
            <a:ext cx="5048250" cy="476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25" b="0" i="0" u="none">
                <a:solidFill>
                  <a:srgbClr val="2878D0"/>
                </a:solidFill>
                <a:latin typeface="JetBrains Mono"/>
              </a:rPr>
              <a:t>$ git config --global user.email "your-email@example.com"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24600" y="4124325"/>
            <a:ext cx="58674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A0A4AB"/>
                </a:solidFill>
                <a:latin typeface="JetBrains Mono"/>
              </a:rPr>
              <a:t># Silent success (no output means setting saved)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1525" y="2814637"/>
            <a:ext cx="66675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191919"/>
                </a:solidFill>
                <a:latin typeface="DM Sans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200" y="2843212"/>
            <a:ext cx="4819650" cy="495300"/>
          </a:xfrm>
          <a:prstGeom prst="rect">
            <a:avLst/>
          </a:prstGeom>
          <a:noFill/>
        </p:spPr>
        <p:txBody>
          <a:bodyPr wrap="square" lIns="66675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91919"/>
                </a:solidFill>
                <a:latin typeface="DM Sans"/>
              </a:rPr>
              <a:t>Commit Metadata:</a:t>
            </a:r>
            <a:r>
              <a:rPr sz="1500" b="0" i="0" u="none">
                <a:solidFill>
                  <a:srgbClr val="191919"/>
                </a:solidFill>
                <a:latin typeface="DM Sans"/>
              </a:rPr>
              <a:t> Git embeds this email inside every commit record.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1525" y="3443287"/>
            <a:ext cx="66675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191919"/>
                </a:solidFill>
                <a:latin typeface="DM Sans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3471862"/>
            <a:ext cx="4819650" cy="495300"/>
          </a:xfrm>
          <a:prstGeom prst="rect">
            <a:avLst/>
          </a:prstGeom>
          <a:noFill/>
        </p:spPr>
        <p:txBody>
          <a:bodyPr wrap="square" lIns="66675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91919"/>
                </a:solidFill>
                <a:latin typeface="DM Sans"/>
              </a:rPr>
              <a:t>Not Authentication:</a:t>
            </a:r>
            <a:r>
              <a:rPr sz="1500" b="0" i="0" u="none">
                <a:solidFill>
                  <a:srgbClr val="191919"/>
                </a:solidFill>
                <a:latin typeface="DM Sans"/>
              </a:rPr>
              <a:t> Setting an email does not log you into GitHub.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1525" y="4071937"/>
            <a:ext cx="66675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191919"/>
                </a:solidFill>
                <a:latin typeface="DM Sans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200" y="4100512"/>
            <a:ext cx="4819650" cy="742950"/>
          </a:xfrm>
          <a:prstGeom prst="rect">
            <a:avLst/>
          </a:prstGeom>
          <a:noFill/>
        </p:spPr>
        <p:txBody>
          <a:bodyPr wrap="square" lIns="66675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91919"/>
                </a:solidFill>
                <a:latin typeface="DM Sans"/>
              </a:rPr>
              <a:t>Privacy Tip:</a:t>
            </a:r>
            <a:r>
              <a:rPr sz="1500" b="0" i="0" u="none">
                <a:solidFill>
                  <a:srgbClr val="191919"/>
                </a:solidFill>
                <a:latin typeface="DM Sans"/>
              </a:rPr>
              <a:t> Public repositories expose commit emails publicly; use GitHub's noreply address if desired.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328862"/>
            <a:ext cx="10972800" cy="1352550"/>
          </a:xfrm>
          <a:prstGeom prst="roundRect">
            <a:avLst>
              <a:gd name="adj" fmla="val 5633"/>
            </a:avLst>
          </a:prstGeom>
          <a:solidFill>
            <a:srgbClr val="171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09600" y="4448175"/>
            <a:ext cx="2365027" cy="9525"/>
          </a:xfrm>
          <a:prstGeom prst="rect">
            <a:avLst/>
          </a:prstGeom>
          <a:solidFill>
            <a:srgbClr val="DD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974627" y="4448175"/>
            <a:ext cx="8607772" cy="9525"/>
          </a:xfrm>
          <a:prstGeom prst="rect">
            <a:avLst/>
          </a:prstGeom>
          <a:solidFill>
            <a:srgbClr val="DD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09600" y="4962525"/>
            <a:ext cx="2365027" cy="9525"/>
          </a:xfrm>
          <a:prstGeom prst="rect">
            <a:avLst/>
          </a:prstGeom>
          <a:solidFill>
            <a:srgbClr val="DD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974627" y="4962525"/>
            <a:ext cx="8607772" cy="9525"/>
          </a:xfrm>
          <a:prstGeom prst="rect">
            <a:avLst/>
          </a:prstGeom>
          <a:solidFill>
            <a:srgbClr val="DD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09600" y="5476875"/>
            <a:ext cx="2365027" cy="9525"/>
          </a:xfrm>
          <a:prstGeom prst="rect">
            <a:avLst/>
          </a:prstGeom>
          <a:solidFill>
            <a:srgbClr val="DD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974627" y="5476875"/>
            <a:ext cx="8607772" cy="9525"/>
          </a:xfrm>
          <a:prstGeom prst="rect">
            <a:avLst/>
          </a:prstGeom>
          <a:solidFill>
            <a:srgbClr val="DD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09600" y="3948112"/>
          <a:ext cx="10972799" cy="1543050"/>
        </p:xfrm>
        <a:graphic>
          <a:graphicData uri="http://schemas.openxmlformats.org/drawingml/2006/table">
            <a:tbl>
              <a:tblPr/>
              <a:tblGrid>
                <a:gridCol w="23650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077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4350">
                <a:tc>
                  <a:txBody>
                    <a:bodyPr/>
                    <a:lstStyle/>
                    <a:p>
                      <a:pPr algn="l"/>
                      <a:r>
                        <a:rPr sz="1425" b="1" i="0" u="none">
                          <a:solidFill>
                            <a:srgbClr val="191919"/>
                          </a:solidFill>
                          <a:latin typeface="DM Sans"/>
                        </a:rPr>
                        <a:t>Option / Output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EC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25" b="1" i="0" u="none">
                          <a:solidFill>
                            <a:srgbClr val="191919"/>
                          </a:solidFill>
                          <a:latin typeface="DM Sans"/>
                        </a:rPr>
                        <a:t>Explanation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EC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algn="l"/>
                      <a:r>
                        <a:rPr sz="1425" b="0" i="0" u="none">
                          <a:solidFill>
                            <a:srgbClr val="191919"/>
                          </a:solidFill>
                          <a:latin typeface="DM Sans"/>
                        </a:rPr>
                        <a:t>--list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25" b="0" i="0" u="none">
                          <a:solidFill>
                            <a:srgbClr val="191919"/>
                          </a:solidFill>
                          <a:latin typeface="DM Sans"/>
                        </a:rPr>
                        <a:t>Displays all active key-value pairs stored in the configuration file.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algn="l"/>
                      <a:r>
                        <a:rPr sz="1425" b="0" i="0" u="none">
                          <a:solidFill>
                            <a:srgbClr val="191919"/>
                          </a:solidFill>
                          <a:latin typeface="DM Sans"/>
                        </a:rPr>
                        <a:t>key=value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25" b="0" i="0" u="none">
                          <a:solidFill>
                            <a:srgbClr val="191919"/>
                          </a:solidFill>
                          <a:latin typeface="DM Sans"/>
                        </a:rPr>
                        <a:t>Confirms your author identity is ready before making your first commit.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2878D0"/>
                </a:solidFill>
                <a:latin typeface="JetBrains Mono"/>
              </a:rPr>
              <a:t>11 // VERIFICATION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704850"/>
            <a:ext cx="11582400" cy="4476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191919"/>
                </a:solidFill>
                <a:latin typeface="DM Sans"/>
              </a:rPr>
              <a:t>Verify Git Configuration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557462"/>
            <a:ext cx="11277600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2878D0"/>
                </a:solidFill>
                <a:latin typeface="JetBrains Mono"/>
              </a:rPr>
              <a:t>$ git config --global --list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919412"/>
            <a:ext cx="11277600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25" b="0" i="0" u="none">
                <a:solidFill>
                  <a:srgbClr val="F7F6F2"/>
                </a:solidFill>
                <a:latin typeface="JetBrains Mono"/>
              </a:rPr>
              <a:t>user.name=Sameer Ahmad Ansari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214687"/>
            <a:ext cx="11277600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25" b="0" i="0" u="none">
                <a:solidFill>
                  <a:srgbClr val="F7F6F2"/>
                </a:solidFill>
                <a:latin typeface="JetBrains Mono"/>
              </a:rPr>
              <a:t>user.email=sameer@example.com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2878D0"/>
                </a:solidFill>
                <a:latin typeface="JetBrains Mono"/>
              </a:rPr>
              <a:t>12 // SHELL PREPARATION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704850"/>
            <a:ext cx="11582400" cy="4476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191919"/>
                </a:solidFill>
                <a:latin typeface="DM Sans"/>
              </a:rPr>
              <a:t>Create Project Directory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3133725"/>
            <a:ext cx="6280546" cy="2952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2878D0"/>
                </a:solidFill>
                <a:latin typeface="JetBrains Mono"/>
              </a:rPr>
              <a:t>$ mkdir git-practice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57962" y="3133725"/>
            <a:ext cx="5634037" cy="2952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2878D0"/>
                </a:solidFill>
                <a:latin typeface="JetBrains Mono"/>
              </a:rPr>
              <a:t>$ cd git-practice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1525" y="3514725"/>
            <a:ext cx="66675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191919"/>
                </a:solidFill>
                <a:latin typeface="DM Sans"/>
              </a:rP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8200" y="3543300"/>
            <a:ext cx="5994796" cy="247650"/>
          </a:xfrm>
          <a:prstGeom prst="rect">
            <a:avLst/>
          </a:prstGeom>
          <a:noFill/>
        </p:spPr>
        <p:txBody>
          <a:bodyPr wrap="none" lIns="66675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91919"/>
                </a:solidFill>
                <a:latin typeface="DM Sans"/>
              </a:rPr>
              <a:t>Type:</a:t>
            </a:r>
            <a:r>
              <a:rPr sz="1500" b="0" i="0" u="none">
                <a:solidFill>
                  <a:srgbClr val="191919"/>
                </a:solidFill>
                <a:latin typeface="DM Sans"/>
              </a:rPr>
              <a:t> Terminal shell command (not Git).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1525" y="3895725"/>
            <a:ext cx="66675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191919"/>
                </a:solidFill>
                <a:latin typeface="DM Sans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8200" y="3924300"/>
            <a:ext cx="5994796" cy="247650"/>
          </a:xfrm>
          <a:prstGeom prst="rect">
            <a:avLst/>
          </a:prstGeom>
          <a:noFill/>
        </p:spPr>
        <p:txBody>
          <a:bodyPr wrap="none" lIns="66675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91919"/>
                </a:solidFill>
                <a:latin typeface="DM Sans"/>
              </a:rPr>
              <a:t>mkdir:</a:t>
            </a:r>
            <a:r>
              <a:rPr sz="1500" b="0" i="0" u="none">
                <a:solidFill>
                  <a:srgbClr val="191919"/>
                </a:solidFill>
                <a:latin typeface="DM Sans"/>
              </a:rPr>
              <a:t> Short for </a:t>
            </a:r>
            <a:r>
              <a:rPr sz="1500" b="0" i="1" u="none">
                <a:solidFill>
                  <a:srgbClr val="191919"/>
                </a:solidFill>
                <a:latin typeface="DM Sans"/>
              </a:rPr>
              <a:t>make directory</a:t>
            </a:r>
            <a:r>
              <a:rPr sz="1500" b="0" i="0" u="none">
                <a:solidFill>
                  <a:srgbClr val="191919"/>
                </a:solidFill>
                <a:latin typeface="DM Sans"/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1525" y="4276725"/>
            <a:ext cx="66675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191919"/>
                </a:solidFill>
                <a:latin typeface="DM Sans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200" y="4305300"/>
            <a:ext cx="5994796" cy="247650"/>
          </a:xfrm>
          <a:prstGeom prst="rect">
            <a:avLst/>
          </a:prstGeom>
          <a:noFill/>
        </p:spPr>
        <p:txBody>
          <a:bodyPr wrap="none" lIns="66675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91919"/>
                </a:solidFill>
                <a:latin typeface="DM Sans"/>
              </a:rPr>
              <a:t>Result:</a:t>
            </a:r>
            <a:r>
              <a:rPr sz="1500" b="0" i="0" u="none">
                <a:solidFill>
                  <a:srgbClr val="191919"/>
                </a:solidFill>
                <a:latin typeface="DM Sans"/>
              </a:rPr>
              <a:t> Creates empty folder git-practice.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19887" y="3514725"/>
            <a:ext cx="66675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191919"/>
                </a:solidFill>
                <a:latin typeface="DM Sans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86562" y="3543300"/>
            <a:ext cx="5405437" cy="247650"/>
          </a:xfrm>
          <a:prstGeom prst="rect">
            <a:avLst/>
          </a:prstGeom>
          <a:noFill/>
        </p:spPr>
        <p:txBody>
          <a:bodyPr wrap="none" lIns="66675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91919"/>
                </a:solidFill>
                <a:latin typeface="DM Sans"/>
              </a:rPr>
              <a:t>Type:</a:t>
            </a:r>
            <a:r>
              <a:rPr sz="1500" b="0" i="0" u="none">
                <a:solidFill>
                  <a:srgbClr val="191919"/>
                </a:solidFill>
                <a:latin typeface="DM Sans"/>
              </a:rPr>
              <a:t> Terminal shell navigation command.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19887" y="3895725"/>
            <a:ext cx="66675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191919"/>
                </a:solidFill>
                <a:latin typeface="DM Sans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86562" y="3924300"/>
            <a:ext cx="5405437" cy="247650"/>
          </a:xfrm>
          <a:prstGeom prst="rect">
            <a:avLst/>
          </a:prstGeom>
          <a:noFill/>
        </p:spPr>
        <p:txBody>
          <a:bodyPr wrap="none" lIns="66675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91919"/>
                </a:solidFill>
                <a:latin typeface="DM Sans"/>
              </a:rPr>
              <a:t>cd:</a:t>
            </a:r>
            <a:r>
              <a:rPr sz="1500" b="0" i="0" u="none">
                <a:solidFill>
                  <a:srgbClr val="191919"/>
                </a:solidFill>
                <a:latin typeface="DM Sans"/>
              </a:rPr>
              <a:t> Short for </a:t>
            </a:r>
            <a:r>
              <a:rPr sz="1500" b="0" i="1" u="none">
                <a:solidFill>
                  <a:srgbClr val="191919"/>
                </a:solidFill>
                <a:latin typeface="DM Sans"/>
              </a:rPr>
              <a:t>change directory</a:t>
            </a:r>
            <a:r>
              <a:rPr sz="1500" b="0" i="0" u="none">
                <a:solidFill>
                  <a:srgbClr val="191919"/>
                </a:solidFill>
                <a:latin typeface="DM Sans"/>
              </a:rPr>
              <a:t>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19887" y="4276725"/>
            <a:ext cx="66675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191919"/>
                </a:solidFill>
                <a:latin typeface="DM Sans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86562" y="4305300"/>
            <a:ext cx="5405437" cy="247650"/>
          </a:xfrm>
          <a:prstGeom prst="rect">
            <a:avLst/>
          </a:prstGeom>
          <a:noFill/>
        </p:spPr>
        <p:txBody>
          <a:bodyPr wrap="none" lIns="66675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91919"/>
                </a:solidFill>
                <a:latin typeface="DM Sans"/>
              </a:rPr>
              <a:t>Result:</a:t>
            </a:r>
            <a:r>
              <a:rPr sz="1500" b="0" i="0" u="none">
                <a:solidFill>
                  <a:srgbClr val="191919"/>
                </a:solidFill>
                <a:latin typeface="DM Sans"/>
              </a:rPr>
              <a:t> Moves active shell inside git-practice.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3171825"/>
            <a:ext cx="5562600" cy="1476375"/>
          </a:xfrm>
          <a:prstGeom prst="roundRect">
            <a:avLst>
              <a:gd name="adj" fmla="val 5161"/>
            </a:avLst>
          </a:prstGeom>
          <a:solidFill>
            <a:srgbClr val="171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2878D0"/>
                </a:solidFill>
                <a:latin typeface="JetBrains Mono"/>
              </a:rPr>
              <a:t>13 // REPOSITORY CREATION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704850"/>
            <a:ext cx="11582400" cy="4476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191919"/>
                </a:solidFill>
                <a:latin typeface="DM Sans"/>
              </a:rPr>
              <a:t>Initialize First Repository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476625"/>
            <a:ext cx="6191250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2878D0"/>
                </a:solidFill>
                <a:latin typeface="JetBrains Mono"/>
              </a:rPr>
              <a:t>$ git init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905250"/>
            <a:ext cx="5048250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A0A4AB"/>
                </a:solidFill>
                <a:latin typeface="JetBrains Mono"/>
              </a:rPr>
              <a:t>Initialized empty Git repository in /Users/student/git-practice/.git/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91325" y="2871787"/>
            <a:ext cx="66675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191919"/>
                </a:solidFill>
                <a:latin typeface="DM Sans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0" y="2900362"/>
            <a:ext cx="5334000" cy="247650"/>
          </a:xfrm>
          <a:prstGeom prst="rect">
            <a:avLst/>
          </a:prstGeom>
          <a:noFill/>
        </p:spPr>
        <p:txBody>
          <a:bodyPr wrap="none" lIns="66675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91919"/>
                </a:solidFill>
                <a:latin typeface="DM Sans"/>
              </a:rPr>
              <a:t>init:</a:t>
            </a:r>
            <a:r>
              <a:rPr sz="1500" b="0" i="0" u="none">
                <a:solidFill>
                  <a:srgbClr val="191919"/>
                </a:solidFill>
                <a:latin typeface="DM Sans"/>
              </a:rPr>
              <a:t> Initializes a brand-new local Git repository.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91325" y="3252787"/>
            <a:ext cx="66675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191919"/>
                </a:solidFill>
                <a:latin typeface="DM Sans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3281362"/>
            <a:ext cx="4819650" cy="495300"/>
          </a:xfrm>
          <a:prstGeom prst="rect">
            <a:avLst/>
          </a:prstGeom>
          <a:noFill/>
        </p:spPr>
        <p:txBody>
          <a:bodyPr wrap="square" lIns="66675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91919"/>
                </a:solidFill>
                <a:latin typeface="DM Sans"/>
              </a:rPr>
              <a:t>Hidden .git Folder:</a:t>
            </a:r>
            <a:r>
              <a:rPr sz="1500" b="0" i="0" u="none">
                <a:solidFill>
                  <a:srgbClr val="191919"/>
                </a:solidFill>
                <a:latin typeface="DM Sans"/>
              </a:rPr>
              <a:t> Stores commits, branches, and configuration.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91325" y="3881437"/>
            <a:ext cx="66675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191919"/>
                </a:solidFill>
                <a:latin typeface="DM Sans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3910012"/>
            <a:ext cx="4819650" cy="495300"/>
          </a:xfrm>
          <a:prstGeom prst="rect">
            <a:avLst/>
          </a:prstGeom>
          <a:noFill/>
        </p:spPr>
        <p:txBody>
          <a:bodyPr wrap="square" lIns="66675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91919"/>
                </a:solidFill>
                <a:latin typeface="DM Sans"/>
              </a:rPr>
              <a:t>No Automatic Commit:</a:t>
            </a:r>
            <a:r>
              <a:rPr sz="1500" b="0" i="0" u="none">
                <a:solidFill>
                  <a:srgbClr val="191919"/>
                </a:solidFill>
                <a:latin typeface="DM Sans"/>
              </a:rPr>
              <a:t> Creating a repository does not commit files yet.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91325" y="4510087"/>
            <a:ext cx="66675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191919"/>
                </a:solidFill>
                <a:latin typeface="DM Sans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4538662"/>
            <a:ext cx="5334000" cy="247650"/>
          </a:xfrm>
          <a:prstGeom prst="rect">
            <a:avLst/>
          </a:prstGeom>
          <a:noFill/>
        </p:spPr>
        <p:txBody>
          <a:bodyPr wrap="none" lIns="66675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91919"/>
                </a:solidFill>
                <a:latin typeface="DM Sans"/>
              </a:rPr>
              <a:t>Rule:</a:t>
            </a:r>
            <a:r>
              <a:rPr sz="1500" b="0" i="0" u="none">
                <a:solidFill>
                  <a:srgbClr val="191919"/>
                </a:solidFill>
                <a:latin typeface="DM Sans"/>
              </a:rPr>
              <a:t> Run once per project inside the project root.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676525"/>
            <a:ext cx="10972800" cy="1590675"/>
          </a:xfrm>
          <a:prstGeom prst="roundRect">
            <a:avLst>
              <a:gd name="adj" fmla="val 4790"/>
            </a:avLst>
          </a:prstGeom>
          <a:solidFill>
            <a:srgbClr val="171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2878D0"/>
                </a:solidFill>
                <a:latin typeface="JetBrains Mono"/>
              </a:rPr>
              <a:t>14 // INSPECTING STATE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704850"/>
            <a:ext cx="11582400" cy="4476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191919"/>
                </a:solidFill>
                <a:latin typeface="DM Sans"/>
              </a:rPr>
              <a:t>Check Repository Status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05125"/>
            <a:ext cx="11277600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2878D0"/>
                </a:solidFill>
                <a:latin typeface="JetBrains Mono"/>
              </a:rPr>
              <a:t>$ git status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67075"/>
            <a:ext cx="1127760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F7F6F2"/>
                </a:solidFill>
                <a:latin typeface="JetBrains Mono"/>
              </a:rPr>
              <a:t>On branch main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543300"/>
            <a:ext cx="1127760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F7F6F2"/>
                </a:solidFill>
                <a:latin typeface="JetBrains Mono"/>
              </a:rPr>
              <a:t>No commits yet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819525"/>
            <a:ext cx="1127760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A0A4AB"/>
                </a:solidFill>
                <a:latin typeface="JetBrains Mono"/>
              </a:rPr>
              <a:t>nothing to commit (create/copy files and use "git add" to track)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4572000"/>
            <a:ext cx="3375421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2878D0"/>
                </a:solidFill>
                <a:latin typeface="DM Sans"/>
              </a:rPr>
              <a:t>Current Branch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4876800"/>
            <a:ext cx="3214687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525252"/>
                </a:solidFill>
                <a:latin typeface="DM Sans"/>
              </a:rPr>
              <a:t>Shows active branch timeline.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09950" y="4572000"/>
            <a:ext cx="3375421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2878D0"/>
                </a:solidFill>
                <a:latin typeface="DM Sans"/>
              </a:rPr>
              <a:t>Untracked Files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09950" y="4876800"/>
            <a:ext cx="3214687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525252"/>
                </a:solidFill>
                <a:latin typeface="DM Sans"/>
              </a:rPr>
              <a:t>Lists new unindexed files.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0300" y="4572000"/>
            <a:ext cx="3375421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2878D0"/>
                </a:solidFill>
                <a:latin typeface="DM Sans"/>
              </a:rPr>
              <a:t>Staged Changes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0300" y="4876800"/>
            <a:ext cx="3214687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525252"/>
                </a:solidFill>
                <a:latin typeface="DM Sans"/>
              </a:rPr>
              <a:t>Lists edits ready to commit.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10650" y="4572000"/>
            <a:ext cx="3181350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2878D0"/>
                </a:solidFill>
                <a:latin typeface="DM Sans"/>
              </a:rPr>
              <a:t>Unstaged Changes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10650" y="4876800"/>
            <a:ext cx="318135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525252"/>
                </a:solidFill>
                <a:latin typeface="DM Sans"/>
              </a:rPr>
              <a:t>Lists modified tracked files.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414587"/>
            <a:ext cx="5524500" cy="2952750"/>
          </a:xfrm>
          <a:prstGeom prst="roundRect">
            <a:avLst>
              <a:gd name="adj" fmla="val 2580"/>
            </a:avLst>
          </a:prstGeom>
          <a:solidFill>
            <a:srgbClr val="171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2878D0"/>
                </a:solidFill>
                <a:latin typeface="JetBrains Mono"/>
              </a:rPr>
              <a:t>15 // SECTION C: STAGING &amp; COMMITS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704850"/>
            <a:ext cx="11582400" cy="4476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191919"/>
                </a:solidFill>
                <a:latin typeface="DM Sans"/>
              </a:rPr>
              <a:t>Create First HTML File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6300" y="2643187"/>
            <a:ext cx="6238875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2878D0"/>
                </a:solidFill>
                <a:latin typeface="JetBrains Mono"/>
              </a:rPr>
              <a:t>// git-practice/index.html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6300" y="2947987"/>
            <a:ext cx="5086350" cy="2190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t>
</a:t>
            </a:r>
            <a:r>
              <a:rPr sz="1350" b="0" i="0" u="none">
                <a:solidFill>
                  <a:srgbClr val="F7F6F2"/>
                </a:solidFill>
                <a:latin typeface="JetBrains Mono"/>
              </a:rPr>
              <a:t> </a:t>
            </a:r>
            <a:r>
              <a:t>
</a:t>
            </a:r>
            <a:r>
              <a:rPr sz="1350" b="0" i="0" u="none">
                <a:solidFill>
                  <a:srgbClr val="F7F6F2"/>
                </a:solidFill>
                <a:latin typeface="JetBrains Mono"/>
              </a:rPr>
              <a:t> </a:t>
            </a:r>
            <a:r>
              <a:t>
</a:t>
            </a:r>
            <a:r>
              <a:rPr sz="1350" b="0" i="0" u="none">
                <a:solidFill>
                  <a:srgbClr val="F7F6F2"/>
                </a:solidFill>
                <a:latin typeface="JetBrains Mono"/>
              </a:rPr>
              <a:t>   </a:t>
            </a:r>
            <a:r>
              <a:t>
</a:t>
            </a:r>
            <a:r>
              <a:rPr sz="1350" b="0" i="0" u="none">
                <a:solidFill>
                  <a:srgbClr val="F7F6F2"/>
                </a:solidFill>
                <a:latin typeface="JetBrains Mono"/>
              </a:rPr>
              <a:t>   My Git Project</a:t>
            </a:r>
            <a:r>
              <a:t>
</a:t>
            </a:r>
            <a:r>
              <a:rPr sz="1350" b="0" i="0" u="none">
                <a:solidFill>
                  <a:srgbClr val="F7F6F2"/>
                </a:solidFill>
                <a:latin typeface="JetBrains Mono"/>
              </a:rPr>
              <a:t> </a:t>
            </a:r>
            <a:r>
              <a:t>
</a:t>
            </a:r>
            <a:r>
              <a:rPr sz="1350" b="0" i="0" u="none">
                <a:solidFill>
                  <a:srgbClr val="F7F6F2"/>
                </a:solidFill>
                <a:latin typeface="JetBrains Mono"/>
              </a:rPr>
              <a:t> </a:t>
            </a:r>
            <a:r>
              <a:t>
</a:t>
            </a:r>
            <a:r>
              <a:rPr sz="1350" b="0" i="0" u="none">
                <a:solidFill>
                  <a:srgbClr val="F7F6F2"/>
                </a:solidFill>
                <a:latin typeface="JetBrains Mono"/>
              </a:rPr>
              <a:t>   Hello, Git!</a:t>
            </a:r>
            <a:r>
              <a:t>
</a:t>
            </a:r>
            <a:r>
              <a:rPr sz="1350" b="0" i="0" u="none">
                <a:solidFill>
                  <a:srgbClr val="F7F6F2"/>
                </a:solidFill>
                <a:latin typeface="JetBrains Mono"/>
              </a:rPr>
              <a:t>   I am learning version control.</a:t>
            </a:r>
            <a:r>
              <a:t>
</a:t>
            </a:r>
            <a:r>
              <a:rPr sz="1350" b="0" i="0" u="none">
                <a:solidFill>
                  <a:srgbClr val="F7F6F2"/>
                </a:solidFill>
                <a:latin typeface="JetBrains Mono"/>
              </a:rPr>
              <a:t> </a:t>
            </a:r>
            <a:r>
              <a:t>
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53225" y="3167062"/>
            <a:ext cx="66675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191919"/>
                </a:solidFill>
                <a:latin typeface="DM Sans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19900" y="3195637"/>
            <a:ext cx="4857750" cy="495300"/>
          </a:xfrm>
          <a:prstGeom prst="rect">
            <a:avLst/>
          </a:prstGeom>
          <a:noFill/>
        </p:spPr>
        <p:txBody>
          <a:bodyPr wrap="square" lIns="66675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91919"/>
                </a:solidFill>
                <a:latin typeface="DM Sans"/>
              </a:rPr>
              <a:t>File Location:</a:t>
            </a:r>
            <a:r>
              <a:rPr sz="1500" b="0" i="0" u="none">
                <a:solidFill>
                  <a:srgbClr val="191919"/>
                </a:solidFill>
                <a:latin typeface="DM Sans"/>
              </a:rPr>
              <a:t> Saved inside git-practice/index.html.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53225" y="3795712"/>
            <a:ext cx="66675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191919"/>
                </a:solidFill>
                <a:latin typeface="DM Sans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19900" y="3824287"/>
            <a:ext cx="5372100" cy="247650"/>
          </a:xfrm>
          <a:prstGeom prst="rect">
            <a:avLst/>
          </a:prstGeom>
          <a:noFill/>
        </p:spPr>
        <p:txBody>
          <a:bodyPr wrap="none" lIns="66675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91919"/>
                </a:solidFill>
                <a:latin typeface="DM Sans"/>
              </a:rPr>
              <a:t>Current Zone:</a:t>
            </a:r>
            <a:r>
              <a:rPr sz="1500" b="0" i="0" u="none">
                <a:solidFill>
                  <a:srgbClr val="191919"/>
                </a:solidFill>
                <a:latin typeface="DM Sans"/>
              </a:rPr>
              <a:t> Exists only in the Working Directory.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53225" y="4176712"/>
            <a:ext cx="66675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191919"/>
                </a:solidFill>
                <a:latin typeface="DM Sans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19900" y="4205287"/>
            <a:ext cx="5372100" cy="247650"/>
          </a:xfrm>
          <a:prstGeom prst="rect">
            <a:avLst/>
          </a:prstGeom>
          <a:noFill/>
        </p:spPr>
        <p:txBody>
          <a:bodyPr wrap="none" lIns="66675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91919"/>
                </a:solidFill>
                <a:latin typeface="DM Sans"/>
              </a:rPr>
              <a:t>Git Status:</a:t>
            </a:r>
            <a:r>
              <a:rPr sz="1500" b="0" i="0" u="none">
                <a:solidFill>
                  <a:srgbClr val="191919"/>
                </a:solidFill>
                <a:latin typeface="DM Sans"/>
              </a:rPr>
              <a:t> Not staged and not committed yet.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562225"/>
            <a:ext cx="10972800" cy="1628775"/>
          </a:xfrm>
          <a:prstGeom prst="roundRect">
            <a:avLst>
              <a:gd name="adj" fmla="val 4678"/>
            </a:avLst>
          </a:prstGeom>
          <a:solidFill>
            <a:srgbClr val="171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2878D0"/>
                </a:solidFill>
                <a:latin typeface="JetBrains Mono"/>
              </a:rPr>
              <a:t>16 // FILE STATES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704850"/>
            <a:ext cx="11582400" cy="4476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191919"/>
                </a:solidFill>
                <a:latin typeface="DM Sans"/>
              </a:rPr>
              <a:t>Understanding Untracked Files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90825"/>
            <a:ext cx="11277600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2878D0"/>
                </a:solidFill>
                <a:latin typeface="JetBrains Mono"/>
              </a:rPr>
              <a:t>$ git status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133725"/>
            <a:ext cx="1127760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F7F6F2"/>
                </a:solidFill>
                <a:latin typeface="JetBrains Mono"/>
              </a:rPr>
              <a:t>On branch main — Untracked files: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429000"/>
            <a:ext cx="1127760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A0A4AB"/>
                </a:solidFill>
                <a:latin typeface="JetBrains Mono"/>
              </a:rPr>
              <a:t>(use "git add ..." to include in what will be committed)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724275"/>
            <a:ext cx="11277600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25" b="0" i="0" u="none">
                <a:solidFill>
                  <a:srgbClr val="D9534F"/>
                </a:solidFill>
                <a:latin typeface="JetBrains Mono"/>
              </a:rPr>
              <a:t>index.html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1525" y="4429125"/>
            <a:ext cx="66675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191919"/>
                </a:solidFill>
                <a:latin typeface="DM Sans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4457700"/>
            <a:ext cx="11353800" cy="247650"/>
          </a:xfrm>
          <a:prstGeom prst="rect">
            <a:avLst/>
          </a:prstGeom>
          <a:noFill/>
        </p:spPr>
        <p:txBody>
          <a:bodyPr wrap="none" lIns="66675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91919"/>
                </a:solidFill>
                <a:latin typeface="DM Sans"/>
              </a:rPr>
              <a:t>Meaning of Untracked:</a:t>
            </a:r>
            <a:r>
              <a:rPr sz="1500" b="0" i="0" u="none">
                <a:solidFill>
                  <a:srgbClr val="191919"/>
                </a:solidFill>
                <a:latin typeface="DM Sans"/>
              </a:rPr>
              <a:t> Git sees index.html in the folder but ignores it until told otherwise.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1525" y="4810125"/>
            <a:ext cx="66675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191919"/>
                </a:solidFill>
                <a:latin typeface="DM Sans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200" y="4838700"/>
            <a:ext cx="11353800" cy="247650"/>
          </a:xfrm>
          <a:prstGeom prst="rect">
            <a:avLst/>
          </a:prstGeom>
          <a:noFill/>
        </p:spPr>
        <p:txBody>
          <a:bodyPr wrap="none" lIns="66675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91919"/>
                </a:solidFill>
                <a:latin typeface="DM Sans"/>
              </a:rPr>
              <a:t>Why Git Waits:</a:t>
            </a:r>
            <a:r>
              <a:rPr sz="1500" b="0" i="0" u="none">
                <a:solidFill>
                  <a:srgbClr val="191919"/>
                </a:solidFill>
                <a:latin typeface="DM Sans"/>
              </a:rPr>
              <a:t> Prevents temporary build files or secrets from entering history accidentally.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905125"/>
            <a:ext cx="10972800" cy="885825"/>
          </a:xfrm>
          <a:prstGeom prst="roundRect">
            <a:avLst>
              <a:gd name="adj" fmla="val 8602"/>
            </a:avLst>
          </a:prstGeom>
          <a:solidFill>
            <a:srgbClr val="171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2878D0"/>
                </a:solidFill>
                <a:latin typeface="JetBrains Mono"/>
              </a:rPr>
              <a:t>17 // STAGING FILES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704850"/>
            <a:ext cx="11582400" cy="4476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191919"/>
                </a:solidFill>
                <a:latin typeface="DM Sans"/>
              </a:rPr>
              <a:t>Stage One Specific File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171825"/>
            <a:ext cx="11277600" cy="3524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0" i="0" u="none">
                <a:solidFill>
                  <a:srgbClr val="F7F6F2"/>
                </a:solidFill>
                <a:latin typeface="JetBrains Mono"/>
              </a:rPr>
              <a:t>$ git add index.html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4133850"/>
            <a:ext cx="4318062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2878D0"/>
                </a:solidFill>
                <a:latin typeface="JetBrains Mono"/>
              </a:rPr>
              <a:t>git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4457700"/>
            <a:ext cx="4318062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525252"/>
                </a:solidFill>
                <a:latin typeface="DM Sans"/>
              </a:rPr>
              <a:t>Calls the Git version control binary.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68849" y="4133850"/>
            <a:ext cx="4318062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2878D0"/>
                </a:solidFill>
                <a:latin typeface="JetBrains Mono"/>
              </a:rPr>
              <a:t>add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68849" y="4457700"/>
            <a:ext cx="354969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525252"/>
                </a:solidFill>
                <a:latin typeface="DM Sans"/>
              </a:rPr>
              <a:t>Copies current file contents into the staging area.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28099" y="4133850"/>
            <a:ext cx="4063900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2878D0"/>
                </a:solidFill>
                <a:latin typeface="JetBrains Mono"/>
              </a:rPr>
              <a:t>index.html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28099" y="4457700"/>
            <a:ext cx="354969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525252"/>
                </a:solidFill>
                <a:latin typeface="DM Sans"/>
              </a:rPr>
              <a:t>Target path selected for the upcoming commit.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3028950"/>
            <a:ext cx="3479750" cy="1762125"/>
          </a:xfrm>
          <a:prstGeom prst="roundRect">
            <a:avLst>
              <a:gd name="adj" fmla="val 4324"/>
            </a:avLst>
          </a:prstGeom>
          <a:solidFill>
            <a:srgbClr val="EFEC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56050" y="3028950"/>
            <a:ext cx="3479750" cy="1762125"/>
          </a:xfrm>
          <a:prstGeom prst="roundRect">
            <a:avLst>
              <a:gd name="adj" fmla="val 4324"/>
            </a:avLst>
          </a:prstGeom>
          <a:solidFill>
            <a:srgbClr val="EFEC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102500" y="3028950"/>
            <a:ext cx="3479750" cy="1762125"/>
          </a:xfrm>
          <a:prstGeom prst="roundRect">
            <a:avLst>
              <a:gd name="adj" fmla="val 4324"/>
            </a:avLst>
          </a:prstGeom>
          <a:solidFill>
            <a:srgbClr val="171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2878D0"/>
                </a:solidFill>
                <a:latin typeface="JetBrains Mono"/>
              </a:rPr>
              <a:t>18 // CONCEPTUAL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704850"/>
            <a:ext cx="11582400" cy="4476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191919"/>
                </a:solidFill>
                <a:latin typeface="DM Sans"/>
              </a:rPr>
              <a:t>The Staging Area Analogy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333750"/>
            <a:ext cx="3587687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525252"/>
                </a:solidFill>
                <a:latin typeface="JetBrains Mono"/>
              </a:rPr>
              <a:t>STAGE 01 // STUDY DESK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600450"/>
            <a:ext cx="3767072" cy="2952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191919"/>
                </a:solidFill>
                <a:latin typeface="DM Sans"/>
              </a:rPr>
              <a:t>Working Directory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010025"/>
            <a:ext cx="2965400" cy="476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25" b="0" i="0" u="none">
                <a:solidFill>
                  <a:srgbClr val="525252"/>
                </a:solidFill>
                <a:latin typeface="DM Sans"/>
              </a:rPr>
              <a:t>All active drafts and rough work in progress.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0850" y="3333750"/>
            <a:ext cx="3587687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2878D0"/>
                </a:solidFill>
                <a:latin typeface="JetBrains Mono"/>
              </a:rPr>
              <a:t>STAGE 02 // SUBMISSION FOLDER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0850" y="3600450"/>
            <a:ext cx="3767072" cy="2952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191919"/>
                </a:solidFill>
                <a:latin typeface="DM Sans"/>
              </a:rPr>
              <a:t>Staging Area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0850" y="4010025"/>
            <a:ext cx="2965400" cy="476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25" b="0" i="0" u="none">
                <a:solidFill>
                  <a:srgbClr val="525252"/>
                </a:solidFill>
                <a:latin typeface="DM Sans"/>
              </a:rPr>
              <a:t>Clean pages chosen for the next submission.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07300" y="3333750"/>
            <a:ext cx="3587687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2E8B57"/>
                </a:solidFill>
                <a:latin typeface="JetBrains Mono"/>
              </a:rPr>
              <a:t>STAGE 03 // ARCHIVE RECORD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07300" y="3600450"/>
            <a:ext cx="3767072" cy="2952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F7F6F2"/>
                </a:solidFill>
                <a:latin typeface="DM Sans"/>
              </a:rPr>
              <a:t>Commit Snapshot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07300" y="4010025"/>
            <a:ext cx="2965400" cy="476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25" b="0" i="0" u="none">
                <a:solidFill>
                  <a:srgbClr val="A0A4AB"/>
                </a:solidFill>
                <a:latin typeface="DM Sans"/>
              </a:rPr>
              <a:t>Permanent timestamped record stored in history.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3143250"/>
            <a:ext cx="5562600" cy="1533525"/>
          </a:xfrm>
          <a:prstGeom prst="roundRect">
            <a:avLst>
              <a:gd name="adj" fmla="val 4968"/>
            </a:avLst>
          </a:prstGeom>
          <a:solidFill>
            <a:srgbClr val="171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2878D0"/>
                </a:solidFill>
                <a:latin typeface="JetBrains Mono"/>
              </a:rPr>
              <a:t>19 // DIRECTORY STAGING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704850"/>
            <a:ext cx="11582400" cy="4476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191919"/>
                </a:solidFill>
                <a:latin typeface="DM Sans"/>
              </a:rPr>
              <a:t>Stage Current Directory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448050"/>
            <a:ext cx="6191250" cy="3333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950" b="0" i="0" u="none">
                <a:solidFill>
                  <a:srgbClr val="2878D0"/>
                </a:solidFill>
                <a:latin typeface="JetBrains Mono"/>
              </a:rPr>
              <a:t>$ git add 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933825"/>
            <a:ext cx="5048250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A0A4AB"/>
                </a:solidFill>
                <a:latin typeface="JetBrains Mono"/>
              </a:rPr>
              <a:t># Stages all new, modified, and deleted files in "." and its subdirectories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91325" y="2624137"/>
            <a:ext cx="66675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191919"/>
                </a:solidFill>
                <a:latin typeface="DM Sans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0" y="2652712"/>
            <a:ext cx="4819650" cy="495300"/>
          </a:xfrm>
          <a:prstGeom prst="rect">
            <a:avLst/>
          </a:prstGeom>
          <a:noFill/>
        </p:spPr>
        <p:txBody>
          <a:bodyPr wrap="square" lIns="66675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91919"/>
                </a:solidFill>
                <a:latin typeface="DM Sans"/>
              </a:rPr>
              <a:t>The Dot (.):</a:t>
            </a:r>
            <a:r>
              <a:rPr sz="1500" b="0" i="0" u="none">
                <a:solidFill>
                  <a:srgbClr val="191919"/>
                </a:solidFill>
                <a:latin typeface="DM Sans"/>
              </a:rPr>
              <a:t> Represents the current working directory path.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91325" y="3252787"/>
            <a:ext cx="66675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191919"/>
                </a:solidFill>
                <a:latin typeface="DM Sans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3281362"/>
            <a:ext cx="4819650" cy="495300"/>
          </a:xfrm>
          <a:prstGeom prst="rect">
            <a:avLst/>
          </a:prstGeom>
          <a:noFill/>
        </p:spPr>
        <p:txBody>
          <a:bodyPr wrap="square" lIns="66675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91919"/>
                </a:solidFill>
                <a:latin typeface="DM Sans"/>
              </a:rPr>
              <a:t>Subdirectories:</a:t>
            </a:r>
            <a:r>
              <a:rPr sz="1500" b="0" i="0" u="none">
                <a:solidFill>
                  <a:srgbClr val="191919"/>
                </a:solidFill>
                <a:latin typeface="DM Sans"/>
              </a:rPr>
              <a:t> Recursively includes child folders underneath ..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91325" y="3881437"/>
            <a:ext cx="66675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191919"/>
                </a:solidFill>
                <a:latin typeface="DM Sans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3910012"/>
            <a:ext cx="4819650" cy="495300"/>
          </a:xfrm>
          <a:prstGeom prst="rect">
            <a:avLst/>
          </a:prstGeom>
          <a:noFill/>
        </p:spPr>
        <p:txBody>
          <a:bodyPr wrap="square" lIns="66675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91919"/>
                </a:solidFill>
                <a:latin typeface="DM Sans"/>
              </a:rPr>
              <a:t>Modern Git Behavior:</a:t>
            </a:r>
            <a:r>
              <a:rPr sz="1500" b="0" i="0" u="none">
                <a:solidFill>
                  <a:srgbClr val="191919"/>
                </a:solidFill>
                <a:latin typeface="DM Sans"/>
              </a:rPr>
              <a:t> Stages additions, modifications, and deletions in scope.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91325" y="4510087"/>
            <a:ext cx="66675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191919"/>
                </a:solidFill>
                <a:latin typeface="DM Sans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4538662"/>
            <a:ext cx="4819650" cy="495300"/>
          </a:xfrm>
          <a:prstGeom prst="rect">
            <a:avLst/>
          </a:prstGeom>
          <a:noFill/>
        </p:spPr>
        <p:txBody>
          <a:bodyPr wrap="square" lIns="66675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91919"/>
                </a:solidFill>
                <a:latin typeface="DM Sans"/>
              </a:rPr>
              <a:t>Best Practice:</a:t>
            </a:r>
            <a:r>
              <a:rPr sz="1500" b="0" i="0" u="none">
                <a:solidFill>
                  <a:srgbClr val="191919"/>
                </a:solidFill>
                <a:latin typeface="DM Sans"/>
              </a:rPr>
              <a:t> Always inspect git status before running git add ..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390775"/>
            <a:ext cx="10972800" cy="676275"/>
          </a:xfrm>
          <a:prstGeom prst="roundRect">
            <a:avLst>
              <a:gd name="adj" fmla="val 11267"/>
            </a:avLst>
          </a:prstGeom>
          <a:solidFill>
            <a:srgbClr val="171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09600" y="3833812"/>
            <a:ext cx="2751980" cy="9525"/>
          </a:xfrm>
          <a:prstGeom prst="rect">
            <a:avLst/>
          </a:prstGeom>
          <a:solidFill>
            <a:srgbClr val="DD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361580" y="3833812"/>
            <a:ext cx="8220819" cy="9525"/>
          </a:xfrm>
          <a:prstGeom prst="rect">
            <a:avLst/>
          </a:prstGeom>
          <a:solidFill>
            <a:srgbClr val="DD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09600" y="4348162"/>
            <a:ext cx="2751980" cy="9525"/>
          </a:xfrm>
          <a:prstGeom prst="rect">
            <a:avLst/>
          </a:prstGeom>
          <a:solidFill>
            <a:srgbClr val="DD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361580" y="4348162"/>
            <a:ext cx="8220819" cy="9525"/>
          </a:xfrm>
          <a:prstGeom prst="rect">
            <a:avLst/>
          </a:prstGeom>
          <a:solidFill>
            <a:srgbClr val="DD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09600" y="4862512"/>
            <a:ext cx="2751980" cy="9525"/>
          </a:xfrm>
          <a:prstGeom prst="rect">
            <a:avLst/>
          </a:prstGeom>
          <a:solidFill>
            <a:srgbClr val="DD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361580" y="4862512"/>
            <a:ext cx="8220819" cy="9525"/>
          </a:xfrm>
          <a:prstGeom prst="rect">
            <a:avLst/>
          </a:prstGeom>
          <a:solidFill>
            <a:srgbClr val="DD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09600" y="5376862"/>
            <a:ext cx="2751980" cy="9525"/>
          </a:xfrm>
          <a:prstGeom prst="rect">
            <a:avLst/>
          </a:prstGeom>
          <a:solidFill>
            <a:srgbClr val="DD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361580" y="5376862"/>
            <a:ext cx="8220819" cy="9525"/>
          </a:xfrm>
          <a:prstGeom prst="rect">
            <a:avLst/>
          </a:prstGeom>
          <a:solidFill>
            <a:srgbClr val="DD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09600" y="3333750"/>
          <a:ext cx="10972799" cy="2057400"/>
        </p:xfrm>
        <a:graphic>
          <a:graphicData uri="http://schemas.openxmlformats.org/drawingml/2006/table">
            <a:tbl>
              <a:tblPr/>
              <a:tblGrid>
                <a:gridCol w="27519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08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4350">
                <a:tc>
                  <a:txBody>
                    <a:bodyPr/>
                    <a:lstStyle/>
                    <a:p>
                      <a:pPr algn="l"/>
                      <a:r>
                        <a:rPr sz="1425" b="1" i="0" u="none">
                          <a:solidFill>
                            <a:srgbClr val="191919"/>
                          </a:solidFill>
                          <a:latin typeface="DM Sans"/>
                        </a:rPr>
                        <a:t>Command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EC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25" b="1" i="0" u="none">
                          <a:solidFill>
                            <a:srgbClr val="191919"/>
                          </a:solidFill>
                          <a:latin typeface="DM Sans"/>
                        </a:rPr>
                        <a:t>Path Scope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EC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algn="l"/>
                      <a:r>
                        <a:rPr sz="1425" b="0" i="0" u="none">
                          <a:solidFill>
                            <a:srgbClr val="191919"/>
                          </a:solidFill>
                          <a:latin typeface="DM Sans"/>
                        </a:rPr>
                        <a:t>git add index.html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25" b="0" i="0" u="none">
                          <a:solidFill>
                            <a:srgbClr val="191919"/>
                          </a:solidFill>
                          <a:latin typeface="DM Sans"/>
                        </a:rPr>
                        <a:t>Stages only one specific named file.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algn="l"/>
                      <a:r>
                        <a:rPr sz="1425" b="0" i="0" u="none">
                          <a:solidFill>
                            <a:srgbClr val="191919"/>
                          </a:solidFill>
                          <a:latin typeface="DM Sans"/>
                        </a:rPr>
                        <a:t>git add 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25" b="0" i="0" u="none">
                          <a:solidFill>
                            <a:srgbClr val="191919"/>
                          </a:solidFill>
                          <a:latin typeface="DM Sans"/>
                        </a:rPr>
                        <a:t>Stages eligible changes inside current directory and child folders.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algn="l"/>
                      <a:r>
                        <a:rPr sz="1425" b="0" i="0" u="none">
                          <a:solidFill>
                            <a:srgbClr val="191919"/>
                          </a:solidFill>
                          <a:latin typeface="DM Sans"/>
                        </a:rPr>
                        <a:t>git add -A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25" b="0" i="0" u="none">
                          <a:solidFill>
                            <a:srgbClr val="191919"/>
                          </a:solidFill>
                          <a:latin typeface="DM Sans"/>
                        </a:rPr>
                        <a:t>Stages all changes across entire repository regardless of current subfolder.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2878D0"/>
                </a:solidFill>
                <a:latin typeface="JetBrains Mono"/>
              </a:rPr>
              <a:t>20 // REPOSITORY-WIDE STAGING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704850"/>
            <a:ext cx="11582400" cy="4476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191919"/>
                </a:solidFill>
                <a:latin typeface="DM Sans"/>
              </a:rPr>
              <a:t>Stage All Repository Changes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581275"/>
            <a:ext cx="11277600" cy="2952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2878D0"/>
                </a:solidFill>
                <a:latin typeface="JetBrains Mono"/>
              </a:rPr>
              <a:t>$ git add -A   </a:t>
            </a:r>
            <a:r>
              <a:rPr sz="1350" b="0" i="0" u="none">
                <a:solidFill>
                  <a:srgbClr val="A0A4AB"/>
                </a:solidFill>
                <a:latin typeface="JetBrains Mono"/>
              </a:rPr>
              <a:t># -A (--all) stages changes across the entire repository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3076575"/>
            <a:ext cx="5524500" cy="1666875"/>
          </a:xfrm>
          <a:prstGeom prst="roundRect">
            <a:avLst>
              <a:gd name="adj" fmla="val 4571"/>
            </a:avLst>
          </a:prstGeom>
          <a:solidFill>
            <a:srgbClr val="171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2878D0"/>
                </a:solidFill>
                <a:latin typeface="JetBrains Mono"/>
              </a:rPr>
              <a:t>21 // INSPECTING DIFFS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704850"/>
            <a:ext cx="11582400" cy="4476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191919"/>
                </a:solidFill>
                <a:latin typeface="DM Sans"/>
              </a:rPr>
              <a:t>Inspect Unstaged Changes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6300" y="3343275"/>
            <a:ext cx="6238875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2878D0"/>
                </a:solidFill>
                <a:latin typeface="JetBrains Mono"/>
              </a:rPr>
              <a:t>$ git diff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6300" y="3705225"/>
            <a:ext cx="623887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A0A4AB"/>
                </a:solidFill>
                <a:latin typeface="JetBrains Mono"/>
              </a:rPr>
              <a:t>@@ -7,3 +7,3 @@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6300" y="3981450"/>
            <a:ext cx="623887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D9534F"/>
                </a:solidFill>
                <a:latin typeface="JetBrains Mono"/>
              </a:rPr>
              <a:t>- Hello, Git!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6300" y="4257675"/>
            <a:ext cx="623887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2E8B57"/>
                </a:solidFill>
                <a:latin typeface="JetBrains Mono"/>
              </a:rPr>
              <a:t>+ Welcome to Git Workshop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53225" y="2871787"/>
            <a:ext cx="66675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191919"/>
                </a:solidFill>
                <a:latin typeface="DM Sans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19900" y="2900362"/>
            <a:ext cx="4857750" cy="495300"/>
          </a:xfrm>
          <a:prstGeom prst="rect">
            <a:avLst/>
          </a:prstGeom>
          <a:noFill/>
        </p:spPr>
        <p:txBody>
          <a:bodyPr wrap="square" lIns="66675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91919"/>
                </a:solidFill>
                <a:latin typeface="DM Sans"/>
              </a:rPr>
              <a:t>What Diff Means:</a:t>
            </a:r>
            <a:r>
              <a:rPr sz="1500" b="0" i="0" u="none">
                <a:solidFill>
                  <a:srgbClr val="191919"/>
                </a:solidFill>
                <a:latin typeface="DM Sans"/>
              </a:rPr>
              <a:t> Line-by-line difference between file versions.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53225" y="3500437"/>
            <a:ext cx="66675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191919"/>
                </a:solidFill>
                <a:latin typeface="DM Sans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19900" y="3529012"/>
            <a:ext cx="5372100" cy="247650"/>
          </a:xfrm>
          <a:prstGeom prst="rect">
            <a:avLst/>
          </a:prstGeom>
          <a:noFill/>
        </p:spPr>
        <p:txBody>
          <a:bodyPr wrap="none" lIns="66675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91919"/>
                </a:solidFill>
                <a:latin typeface="DM Sans"/>
              </a:rPr>
              <a:t>Minus (-):</a:t>
            </a:r>
            <a:r>
              <a:rPr sz="1500" b="0" i="0" u="none">
                <a:solidFill>
                  <a:srgbClr val="191919"/>
                </a:solidFill>
                <a:latin typeface="DM Sans"/>
              </a:rPr>
              <a:t> Original line removed or replaced.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53225" y="3881437"/>
            <a:ext cx="66675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191919"/>
                </a:solidFill>
                <a:latin typeface="DM Sans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19900" y="3910012"/>
            <a:ext cx="5372100" cy="247650"/>
          </a:xfrm>
          <a:prstGeom prst="rect">
            <a:avLst/>
          </a:prstGeom>
          <a:noFill/>
        </p:spPr>
        <p:txBody>
          <a:bodyPr wrap="none" lIns="66675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91919"/>
                </a:solidFill>
                <a:latin typeface="DM Sans"/>
              </a:rPr>
              <a:t>Plus (+):</a:t>
            </a:r>
            <a:r>
              <a:rPr sz="1500" b="0" i="0" u="none">
                <a:solidFill>
                  <a:srgbClr val="191919"/>
                </a:solidFill>
                <a:latin typeface="DM Sans"/>
              </a:rPr>
              <a:t> New line added in working directory.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53225" y="4262437"/>
            <a:ext cx="66675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191919"/>
                </a:solidFill>
                <a:latin typeface="DM Sans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19900" y="4291012"/>
            <a:ext cx="4857750" cy="495300"/>
          </a:xfrm>
          <a:prstGeom prst="rect">
            <a:avLst/>
          </a:prstGeom>
          <a:noFill/>
        </p:spPr>
        <p:txBody>
          <a:bodyPr wrap="square" lIns="66675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91919"/>
                </a:solidFill>
                <a:latin typeface="DM Sans"/>
              </a:rPr>
              <a:t>Important Rule:</a:t>
            </a:r>
            <a:r>
              <a:rPr sz="1500" b="0" i="0" u="none">
                <a:solidFill>
                  <a:srgbClr val="191919"/>
                </a:solidFill>
                <a:latin typeface="DM Sans"/>
              </a:rPr>
              <a:t> Plain git diff shows only </a:t>
            </a:r>
            <a:r>
              <a:rPr sz="1500" b="0" i="1" u="none">
                <a:solidFill>
                  <a:srgbClr val="191919"/>
                </a:solidFill>
                <a:latin typeface="DM Sans"/>
              </a:rPr>
              <a:t>unstaged</a:t>
            </a:r>
            <a:r>
              <a:rPr sz="1500" b="0" i="0" u="none">
                <a:solidFill>
                  <a:srgbClr val="191919"/>
                </a:solidFill>
                <a:latin typeface="DM Sans"/>
              </a:rPr>
              <a:t> edits.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3190875"/>
            <a:ext cx="5491162" cy="14382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3190875"/>
            <a:ext cx="5024437" cy="1009650"/>
          </a:xfrm>
          <a:prstGeom prst="roundRect">
            <a:avLst>
              <a:gd name="adj" fmla="val 7547"/>
            </a:avLst>
          </a:prstGeom>
          <a:solidFill>
            <a:srgbClr val="171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091237" y="3190875"/>
            <a:ext cx="9525" cy="1438275"/>
          </a:xfrm>
          <a:prstGeom prst="rect">
            <a:avLst/>
          </a:prstGeom>
          <a:solidFill>
            <a:srgbClr val="DD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2878D0"/>
                </a:solidFill>
                <a:latin typeface="JetBrains Mono"/>
              </a:rPr>
              <a:t>22 // PRE-COMMIT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704850"/>
            <a:ext cx="11582400" cy="4476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191919"/>
                </a:solidFill>
                <a:latin typeface="DM Sans"/>
              </a:rPr>
              <a:t>Inspect Staged Changes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4391025"/>
            <a:ext cx="6280546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25" b="0" i="0" u="none">
                <a:solidFill>
                  <a:srgbClr val="525252"/>
                </a:solidFill>
                <a:latin typeface="DM Sans"/>
              </a:rPr>
              <a:t>Compares Staging Area against the last commit.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200" y="3419475"/>
            <a:ext cx="5709046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2878D0"/>
                </a:solidFill>
                <a:latin typeface="JetBrains Mono"/>
              </a:rPr>
              <a:t>$ git diff --staged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8200" y="3762375"/>
            <a:ext cx="5709046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0" i="0" u="none">
                <a:solidFill>
                  <a:srgbClr val="2E8B57"/>
                </a:solidFill>
                <a:latin typeface="JetBrains Mono"/>
              </a:rPr>
              <a:t>+ Hello, Git!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19887" y="2938462"/>
            <a:ext cx="66675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191919"/>
                </a:solidFill>
                <a:latin typeface="DM Sans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86562" y="2967037"/>
            <a:ext cx="4891087" cy="495300"/>
          </a:xfrm>
          <a:prstGeom prst="rect">
            <a:avLst/>
          </a:prstGeom>
          <a:noFill/>
        </p:spPr>
        <p:txBody>
          <a:bodyPr wrap="square" lIns="66675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91919"/>
                </a:solidFill>
                <a:latin typeface="DM Sans"/>
              </a:rPr>
              <a:t>--staged Flag:</a:t>
            </a:r>
            <a:r>
              <a:rPr sz="1500" b="0" i="0" u="none">
                <a:solidFill>
                  <a:srgbClr val="191919"/>
                </a:solidFill>
                <a:latin typeface="DM Sans"/>
              </a:rPr>
              <a:t> Tells Git to inspect the staging area snapshot.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19887" y="3567112"/>
            <a:ext cx="66675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191919"/>
                </a:solidFill>
                <a:latin typeface="DM Sans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86562" y="3595687"/>
            <a:ext cx="4891087" cy="495300"/>
          </a:xfrm>
          <a:prstGeom prst="rect">
            <a:avLst/>
          </a:prstGeom>
          <a:noFill/>
        </p:spPr>
        <p:txBody>
          <a:bodyPr wrap="square" lIns="66675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91919"/>
                </a:solidFill>
                <a:latin typeface="DM Sans"/>
              </a:rPr>
              <a:t>Quality Check:</a:t>
            </a:r>
            <a:r>
              <a:rPr sz="1500" b="0" i="0" u="none">
                <a:solidFill>
                  <a:srgbClr val="191919"/>
                </a:solidFill>
                <a:latin typeface="DM Sans"/>
              </a:rPr>
              <a:t> Lets you verify exact lines before creating a commit.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19887" y="4195762"/>
            <a:ext cx="66675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191919"/>
                </a:solidFill>
                <a:latin typeface="DM Sans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86562" y="4224337"/>
            <a:ext cx="4891087" cy="495300"/>
          </a:xfrm>
          <a:prstGeom prst="rect">
            <a:avLst/>
          </a:prstGeom>
          <a:noFill/>
        </p:spPr>
        <p:txBody>
          <a:bodyPr wrap="square" lIns="66675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91919"/>
                </a:solidFill>
                <a:latin typeface="DM Sans"/>
              </a:rPr>
              <a:t>Key Contrast:</a:t>
            </a:r>
            <a:r>
              <a:rPr sz="1500" b="0" i="0" u="none">
                <a:solidFill>
                  <a:srgbClr val="191919"/>
                </a:solidFill>
                <a:latin typeface="DM Sans"/>
              </a:rPr>
              <a:t> git diff checks unstaged edits; git diff --staged checks staged edits.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843212"/>
            <a:ext cx="10972800" cy="1066800"/>
          </a:xfrm>
          <a:prstGeom prst="roundRect">
            <a:avLst>
              <a:gd name="adj" fmla="val 7142"/>
            </a:avLst>
          </a:prstGeom>
          <a:solidFill>
            <a:srgbClr val="171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2878D0"/>
                </a:solidFill>
                <a:latin typeface="JetBrains Mono"/>
              </a:rPr>
              <a:t>23 // RECORDING HISTORY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704850"/>
            <a:ext cx="11582400" cy="4476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191919"/>
                </a:solidFill>
                <a:latin typeface="DM Sans"/>
              </a:rPr>
              <a:t>Create Your First Commit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071812"/>
            <a:ext cx="11277600" cy="2952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2878D0"/>
                </a:solidFill>
                <a:latin typeface="JetBrains Mono"/>
              </a:rPr>
              <a:t>$ git commit -m "Create homepage"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462337"/>
            <a:ext cx="1127760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A0A4AB"/>
                </a:solidFill>
                <a:latin typeface="JetBrains Mono"/>
              </a:rPr>
              <a:t>[main (root-commit) a1b2c3d] Create homepage — 1 file changed, 11 insertions(+)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4214812"/>
            <a:ext cx="3214687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2878D0"/>
                </a:solidFill>
                <a:latin typeface="JetBrains Mono"/>
              </a:rPr>
              <a:t>git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4519612"/>
            <a:ext cx="3214687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525252"/>
                </a:solidFill>
                <a:latin typeface="DM Sans"/>
              </a:rPr>
              <a:t>Core CLI program.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09950" y="4214812"/>
            <a:ext cx="3214687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2878D0"/>
                </a:solidFill>
                <a:latin typeface="JetBrains Mono"/>
              </a:rPr>
              <a:t>commit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09950" y="4519612"/>
            <a:ext cx="2667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525252"/>
                </a:solidFill>
                <a:latin typeface="DM Sans"/>
              </a:rPr>
              <a:t>Records staged snapshot locally.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0300" y="4214812"/>
            <a:ext cx="3214687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2878D0"/>
                </a:solidFill>
                <a:latin typeface="JetBrains Mono"/>
              </a:rPr>
              <a:t>-m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0300" y="4519612"/>
            <a:ext cx="3214687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525252"/>
                </a:solidFill>
                <a:latin typeface="DM Sans"/>
              </a:rPr>
              <a:t>Inline commit message flag.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10650" y="4214812"/>
            <a:ext cx="3181350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2878D0"/>
                </a:solidFill>
                <a:latin typeface="JetBrains Mono"/>
              </a:rPr>
              <a:t>"Create homepage"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10650" y="4519612"/>
            <a:ext cx="318135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525252"/>
                </a:solidFill>
                <a:latin typeface="DM Sans"/>
              </a:rPr>
              <a:t>Descriptive summary in quotes.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2878D0"/>
                </a:solidFill>
                <a:latin typeface="JetBrains Mono"/>
              </a:rPr>
              <a:t>24 // COMMIT MESSAGES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704850"/>
            <a:ext cx="11582400" cy="4476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191919"/>
                </a:solidFill>
                <a:latin typeface="DM Sans"/>
              </a:rPr>
              <a:t>Writing Clear Commit Messages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3057525"/>
            <a:ext cx="6594574" cy="2952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191919"/>
                </a:solidFill>
                <a:latin typeface="DM Sans"/>
              </a:rPr>
              <a:t>Why Supply -m?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57962" y="3005137"/>
            <a:ext cx="5634037" cy="2952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2E8B57"/>
                </a:solidFill>
                <a:latin typeface="DM Sans"/>
              </a:rPr>
              <a:t>Good Messages (Specific)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57962" y="4576762"/>
            <a:ext cx="5634037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25" b="1" i="0" u="none">
                <a:solidFill>
                  <a:srgbClr val="D9534F"/>
                </a:solidFill>
                <a:latin typeface="DM Sans"/>
              </a:rPr>
              <a:t>Avoid vague messages:</a:t>
            </a:r>
            <a:r>
              <a:rPr sz="1425" b="0" i="0" u="none">
                <a:solidFill>
                  <a:srgbClr val="D9534F"/>
                </a:solidFill>
                <a:latin typeface="DM Sans"/>
              </a:rPr>
              <a:t> "Changes", "Final", "asdf"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1525" y="3476625"/>
            <a:ext cx="66675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191919"/>
                </a:solidFill>
                <a:latin typeface="DM Sans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200" y="3505200"/>
            <a:ext cx="4891087" cy="495300"/>
          </a:xfrm>
          <a:prstGeom prst="rect">
            <a:avLst/>
          </a:prstGeom>
          <a:noFill/>
        </p:spPr>
        <p:txBody>
          <a:bodyPr wrap="square" lIns="66675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91919"/>
                </a:solidFill>
                <a:latin typeface="DM Sans"/>
              </a:rPr>
              <a:t>With -m:</a:t>
            </a:r>
            <a:r>
              <a:rPr sz="1500" b="0" i="0" u="none">
                <a:solidFill>
                  <a:srgbClr val="191919"/>
                </a:solidFill>
                <a:latin typeface="DM Sans"/>
              </a:rPr>
              <a:t> Passes message directly on the command line.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1525" y="4105275"/>
            <a:ext cx="66675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191919"/>
                </a:solidFill>
                <a:latin typeface="DM Sans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4133850"/>
            <a:ext cx="4891087" cy="495300"/>
          </a:xfrm>
          <a:prstGeom prst="rect">
            <a:avLst/>
          </a:prstGeom>
          <a:noFill/>
        </p:spPr>
        <p:txBody>
          <a:bodyPr wrap="square" lIns="66675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91919"/>
                </a:solidFill>
                <a:latin typeface="DM Sans"/>
              </a:rPr>
              <a:t>Without -m:</a:t>
            </a:r>
            <a:r>
              <a:rPr sz="1500" b="0" i="0" u="none">
                <a:solidFill>
                  <a:srgbClr val="191919"/>
                </a:solidFill>
                <a:latin typeface="DM Sans"/>
              </a:rPr>
              <a:t> Opens default terminal text editor (often Vim) to type a message.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19887" y="3386137"/>
            <a:ext cx="66675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191919"/>
                </a:solidFill>
                <a:latin typeface="DM Sans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86562" y="3414712"/>
            <a:ext cx="5405437" cy="247650"/>
          </a:xfrm>
          <a:prstGeom prst="rect">
            <a:avLst/>
          </a:prstGeom>
          <a:noFill/>
        </p:spPr>
        <p:txBody>
          <a:bodyPr wrap="none" lIns="66675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91919"/>
                </a:solidFill>
                <a:latin typeface="DM Sans"/>
              </a:rPr>
              <a:t>Add homepage navigation:</a:t>
            </a:r>
            <a:r>
              <a:rPr sz="1500" b="0" i="0" u="none">
                <a:solidFill>
                  <a:srgbClr val="191919"/>
                </a:solidFill>
                <a:latin typeface="DM Sans"/>
              </a:rPr>
              <a:t> Clear action.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19887" y="3767137"/>
            <a:ext cx="66675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191919"/>
                </a:solidFill>
                <a:latin typeface="DM Sans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86562" y="3795712"/>
            <a:ext cx="5405437" cy="247650"/>
          </a:xfrm>
          <a:prstGeom prst="rect">
            <a:avLst/>
          </a:prstGeom>
          <a:noFill/>
        </p:spPr>
        <p:txBody>
          <a:bodyPr wrap="none" lIns="66675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91919"/>
                </a:solidFill>
                <a:latin typeface="DM Sans"/>
              </a:rPr>
              <a:t>Fix login validation:</a:t>
            </a:r>
            <a:r>
              <a:rPr sz="1500" b="0" i="0" u="none">
                <a:solidFill>
                  <a:srgbClr val="191919"/>
                </a:solidFill>
                <a:latin typeface="DM Sans"/>
              </a:rPr>
              <a:t> Clear bugfix.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19887" y="4148137"/>
            <a:ext cx="66675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191919"/>
                </a:solidFill>
                <a:latin typeface="DM Sans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86562" y="4176712"/>
            <a:ext cx="5405437" cy="247650"/>
          </a:xfrm>
          <a:prstGeom prst="rect">
            <a:avLst/>
          </a:prstGeom>
          <a:noFill/>
        </p:spPr>
        <p:txBody>
          <a:bodyPr wrap="none" lIns="66675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91919"/>
                </a:solidFill>
                <a:latin typeface="DM Sans"/>
              </a:rPr>
              <a:t>Update page styling:</a:t>
            </a:r>
            <a:r>
              <a:rPr sz="1500" b="0" i="0" u="none">
                <a:solidFill>
                  <a:srgbClr val="191919"/>
                </a:solidFill>
                <a:latin typeface="DM Sans"/>
              </a:rPr>
              <a:t> Clear scope.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819400"/>
            <a:ext cx="5524500" cy="2181225"/>
          </a:xfrm>
          <a:prstGeom prst="roundRect">
            <a:avLst>
              <a:gd name="adj" fmla="val 3493"/>
            </a:avLst>
          </a:prstGeom>
          <a:solidFill>
            <a:srgbClr val="171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2878D0"/>
                </a:solidFill>
                <a:latin typeface="JetBrains Mono"/>
              </a:rPr>
              <a:t>25 // AUDIT LOG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704850"/>
            <a:ext cx="11582400" cy="4476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191919"/>
                </a:solidFill>
                <a:latin typeface="DM Sans"/>
              </a:rPr>
              <a:t>View Full Commit History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6300" y="3086100"/>
            <a:ext cx="6238875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2878D0"/>
                </a:solidFill>
                <a:latin typeface="JetBrains Mono"/>
              </a:rPr>
              <a:t>$ git log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6300" y="3448050"/>
            <a:ext cx="5086350" cy="419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0" i="0" u="none">
                <a:solidFill>
                  <a:srgbClr val="E6A23C"/>
                </a:solidFill>
                <a:latin typeface="JetBrains Mono"/>
              </a:rPr>
              <a:t>commit a1b2c3d4e5f678901234567890abcdef12345678 (HEAD -&gt; main)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6300" y="3924300"/>
            <a:ext cx="6238875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0" i="0" u="none">
                <a:solidFill>
                  <a:srgbClr val="F7F6F2"/>
                </a:solidFill>
                <a:latin typeface="JetBrains Mono"/>
              </a:rPr>
              <a:t>Author: Sameer Ahmad Ansari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6300" y="4171950"/>
            <a:ext cx="6238875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0" i="0" u="none">
                <a:solidFill>
                  <a:srgbClr val="A0A4AB"/>
                </a:solidFill>
                <a:latin typeface="JetBrains Mono"/>
              </a:rPr>
              <a:t>Date: Tue Oct 27 10:15:00 2026 +0530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6300" y="4514850"/>
            <a:ext cx="623887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F7F6F2"/>
                </a:solidFill>
                <a:latin typeface="JetBrains Mono"/>
              </a:rPr>
              <a:t>Create homepage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53225" y="2995612"/>
            <a:ext cx="66675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191919"/>
                </a:solidFill>
                <a:latin typeface="DM Sans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19900" y="3024187"/>
            <a:ext cx="4857750" cy="495300"/>
          </a:xfrm>
          <a:prstGeom prst="rect">
            <a:avLst/>
          </a:prstGeom>
          <a:noFill/>
        </p:spPr>
        <p:txBody>
          <a:bodyPr wrap="square" lIns="66675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91919"/>
                </a:solidFill>
                <a:latin typeface="DM Sans"/>
              </a:rPr>
              <a:t>Commit ID (SHA):</a:t>
            </a:r>
            <a:r>
              <a:rPr sz="1500" b="0" i="0" u="none">
                <a:solidFill>
                  <a:srgbClr val="191919"/>
                </a:solidFill>
                <a:latin typeface="DM Sans"/>
              </a:rPr>
              <a:t> Unique 40-character cryptographic fingerprint.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53225" y="3624262"/>
            <a:ext cx="66675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191919"/>
                </a:solidFill>
                <a:latin typeface="DM Sans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19900" y="3652837"/>
            <a:ext cx="5372100" cy="247650"/>
          </a:xfrm>
          <a:prstGeom prst="rect">
            <a:avLst/>
          </a:prstGeom>
          <a:noFill/>
        </p:spPr>
        <p:txBody>
          <a:bodyPr wrap="none" lIns="66675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91919"/>
                </a:solidFill>
                <a:latin typeface="DM Sans"/>
              </a:rPr>
              <a:t>Author:</a:t>
            </a:r>
            <a:r>
              <a:rPr sz="1500" b="0" i="0" u="none">
                <a:solidFill>
                  <a:srgbClr val="191919"/>
                </a:solidFill>
                <a:latin typeface="DM Sans"/>
              </a:rPr>
              <a:t> Name and email from git config.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53225" y="4005262"/>
            <a:ext cx="66675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191919"/>
                </a:solidFill>
                <a:latin typeface="DM Sans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19900" y="4033837"/>
            <a:ext cx="5372100" cy="247650"/>
          </a:xfrm>
          <a:prstGeom prst="rect">
            <a:avLst/>
          </a:prstGeom>
          <a:noFill/>
        </p:spPr>
        <p:txBody>
          <a:bodyPr wrap="none" lIns="66675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91919"/>
                </a:solidFill>
                <a:latin typeface="DM Sans"/>
              </a:rPr>
              <a:t>Date:</a:t>
            </a:r>
            <a:r>
              <a:rPr sz="1500" b="0" i="0" u="none">
                <a:solidFill>
                  <a:srgbClr val="191919"/>
                </a:solidFill>
                <a:latin typeface="DM Sans"/>
              </a:rPr>
              <a:t> Exact timestamp when commit was recorded.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53225" y="4386262"/>
            <a:ext cx="66675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191919"/>
                </a:solidFill>
                <a:latin typeface="DM Sans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19900" y="4414837"/>
            <a:ext cx="5372100" cy="247650"/>
          </a:xfrm>
          <a:prstGeom prst="rect">
            <a:avLst/>
          </a:prstGeom>
          <a:noFill/>
        </p:spPr>
        <p:txBody>
          <a:bodyPr wrap="none" lIns="66675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91919"/>
                </a:solidFill>
                <a:latin typeface="DM Sans"/>
              </a:rPr>
              <a:t>Message:</a:t>
            </a:r>
            <a:r>
              <a:rPr sz="1500" b="0" i="0" u="none">
                <a:solidFill>
                  <a:srgbClr val="191919"/>
                </a:solidFill>
                <a:latin typeface="DM Sans"/>
              </a:rPr>
              <a:t> Summary passed via -m.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447925"/>
            <a:ext cx="10972800" cy="1514475"/>
          </a:xfrm>
          <a:prstGeom prst="roundRect">
            <a:avLst>
              <a:gd name="adj" fmla="val 5031"/>
            </a:avLst>
          </a:prstGeom>
          <a:solidFill>
            <a:srgbClr val="171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2878D0"/>
                </a:solidFill>
                <a:latin typeface="JetBrains Mono"/>
              </a:rPr>
              <a:t>26 // COMPACT LOG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704850"/>
            <a:ext cx="11582400" cy="4476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191919"/>
                </a:solidFill>
                <a:latin typeface="DM Sans"/>
              </a:rPr>
              <a:t>Compact Commit History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14625"/>
            <a:ext cx="11277600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2878D0"/>
                </a:solidFill>
                <a:latin typeface="JetBrains Mono"/>
              </a:rPr>
              <a:t>$ git log --oneline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124200"/>
            <a:ext cx="11277600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E6A23C"/>
                </a:solidFill>
                <a:latin typeface="JetBrains Mono"/>
              </a:rPr>
              <a:t>f9d8e7c</a:t>
            </a:r>
            <a:r>
              <a:rPr sz="1500" b="0" i="0" u="none">
                <a:solidFill>
                  <a:srgbClr val="F7F6F2"/>
                </a:solidFill>
                <a:latin typeface="JetBrains Mono"/>
              </a:rPr>
              <a:t> (HEAD -&gt; main) Update homepage heading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448050"/>
            <a:ext cx="11277600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E6A23C"/>
                </a:solidFill>
                <a:latin typeface="JetBrains Mono"/>
              </a:rPr>
              <a:t>a1b2c3d</a:t>
            </a:r>
            <a:r>
              <a:rPr sz="1500" b="0" i="0" u="none">
                <a:solidFill>
                  <a:srgbClr val="F7F6F2"/>
                </a:solidFill>
                <a:latin typeface="JetBrains Mono"/>
              </a:rPr>
              <a:t> Create homepage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1525" y="4200525"/>
            <a:ext cx="66675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191919"/>
                </a:solidFill>
                <a:latin typeface="DM Sans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8200" y="4229100"/>
            <a:ext cx="11353800" cy="247650"/>
          </a:xfrm>
          <a:prstGeom prst="rect">
            <a:avLst/>
          </a:prstGeom>
          <a:noFill/>
        </p:spPr>
        <p:txBody>
          <a:bodyPr wrap="none" lIns="66675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91919"/>
                </a:solidFill>
                <a:latin typeface="DM Sans"/>
              </a:rPr>
              <a:t>--oneline Flag:</a:t>
            </a:r>
            <a:r>
              <a:rPr sz="1500" b="0" i="0" u="none">
                <a:solidFill>
                  <a:srgbClr val="191919"/>
                </a:solidFill>
                <a:latin typeface="DM Sans"/>
              </a:rPr>
              <a:t> Condenses each commit onto a single readable line.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1525" y="4581525"/>
            <a:ext cx="66675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191919"/>
                </a:solidFill>
                <a:latin typeface="DM Sans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200" y="4610100"/>
            <a:ext cx="11353800" cy="247650"/>
          </a:xfrm>
          <a:prstGeom prst="rect">
            <a:avLst/>
          </a:prstGeom>
          <a:noFill/>
        </p:spPr>
        <p:txBody>
          <a:bodyPr wrap="none" lIns="66675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91919"/>
                </a:solidFill>
                <a:latin typeface="DM Sans"/>
              </a:rPr>
              <a:t>Short Hash:</a:t>
            </a:r>
            <a:r>
              <a:rPr sz="1500" b="0" i="0" u="none">
                <a:solidFill>
                  <a:srgbClr val="191919"/>
                </a:solidFill>
                <a:latin typeface="DM Sans"/>
              </a:rPr>
              <a:t> Displays first 7 characters of the commit ID for quick reference.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1525" y="4962525"/>
            <a:ext cx="66675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191919"/>
                </a:solidFill>
                <a:latin typeface="DM Sans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8200" y="4991100"/>
            <a:ext cx="11353800" cy="247650"/>
          </a:xfrm>
          <a:prstGeom prst="rect">
            <a:avLst/>
          </a:prstGeom>
          <a:noFill/>
        </p:spPr>
        <p:txBody>
          <a:bodyPr wrap="none" lIns="66675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91919"/>
                </a:solidFill>
                <a:latin typeface="DM Sans"/>
              </a:rPr>
              <a:t>Ideal Use Case:</a:t>
            </a:r>
            <a:r>
              <a:rPr sz="1500" b="0" i="0" u="none">
                <a:solidFill>
                  <a:srgbClr val="191919"/>
                </a:solidFill>
                <a:latin typeface="DM Sans"/>
              </a:rPr>
              <a:t> Quickly scanning dozens of commits on a classroom screen.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2847975"/>
            <a:ext cx="38100" cy="400050"/>
          </a:xfrm>
          <a:prstGeom prst="rect">
            <a:avLst/>
          </a:prstGeom>
          <a:solidFill>
            <a:srgbClr val="2878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3590925"/>
            <a:ext cx="5257800" cy="1381125"/>
          </a:xfrm>
          <a:prstGeom prst="roundRect">
            <a:avLst>
              <a:gd name="adj" fmla="val 5517"/>
            </a:avLst>
          </a:prstGeom>
          <a:solidFill>
            <a:srgbClr val="EFEC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324600" y="3590925"/>
            <a:ext cx="5257800" cy="1381125"/>
          </a:xfrm>
          <a:prstGeom prst="roundRect">
            <a:avLst>
              <a:gd name="adj" fmla="val 5517"/>
            </a:avLst>
          </a:prstGeom>
          <a:solidFill>
            <a:srgbClr val="EFEC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2878D0"/>
                </a:solidFill>
                <a:latin typeface="JetBrains Mono"/>
              </a:rPr>
              <a:t>27 // CORE MENTAL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704850"/>
            <a:ext cx="11582400" cy="4476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191919"/>
                </a:solidFill>
                <a:latin typeface="DM Sans"/>
              </a:rPr>
              <a:t>Staging vs Committing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8200" y="2847975"/>
            <a:ext cx="11353800" cy="4000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2878D0"/>
                </a:solidFill>
                <a:latin typeface="DM Sans"/>
              </a:rPr>
              <a:t>"Add selects changes. Commit records the selected changes."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6300" y="3857625"/>
            <a:ext cx="5905500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191919"/>
                </a:solidFill>
                <a:latin typeface="JetBrains Mono"/>
              </a:rPr>
              <a:t>$ git add index.html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6300" y="4229100"/>
            <a:ext cx="4819650" cy="476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25" b="0" i="0" u="none">
                <a:solidFill>
                  <a:srgbClr val="525252"/>
                </a:solidFill>
                <a:latin typeface="DM Sans"/>
              </a:rPr>
              <a:t>Prepares specific edits in the staging area without creating a commit.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91300" y="3857625"/>
            <a:ext cx="5600700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191919"/>
                </a:solidFill>
                <a:latin typeface="JetBrains Mono"/>
              </a:rPr>
              <a:t>$ git commit -m "Update homepage"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91300" y="4229100"/>
            <a:ext cx="4819650" cy="476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25" b="0" i="0" u="none">
                <a:solidFill>
                  <a:srgbClr val="525252"/>
                </a:solidFill>
                <a:latin typeface="DM Sans"/>
              </a:rPr>
              <a:t>Takes only what is currently staged and saves a permanent snapshot.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081212"/>
            <a:ext cx="5372100" cy="800100"/>
          </a:xfrm>
          <a:prstGeom prst="roundRect">
            <a:avLst>
              <a:gd name="adj" fmla="val 9523"/>
            </a:avLst>
          </a:prstGeom>
          <a:solidFill>
            <a:srgbClr val="EFEC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10300" y="2081212"/>
            <a:ext cx="5372100" cy="800100"/>
          </a:xfrm>
          <a:prstGeom prst="roundRect">
            <a:avLst>
              <a:gd name="adj" fmla="val 9523"/>
            </a:avLst>
          </a:prstGeom>
          <a:solidFill>
            <a:srgbClr val="EFEC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09600" y="3552825"/>
            <a:ext cx="3601640" cy="9525"/>
          </a:xfrm>
          <a:prstGeom prst="rect">
            <a:avLst/>
          </a:prstGeom>
          <a:solidFill>
            <a:srgbClr val="DD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211240" y="3552825"/>
            <a:ext cx="7371159" cy="9525"/>
          </a:xfrm>
          <a:prstGeom prst="rect">
            <a:avLst/>
          </a:prstGeom>
          <a:solidFill>
            <a:srgbClr val="DD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09600" y="4067175"/>
            <a:ext cx="3601640" cy="9525"/>
          </a:xfrm>
          <a:prstGeom prst="rect">
            <a:avLst/>
          </a:prstGeom>
          <a:solidFill>
            <a:srgbClr val="DD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211240" y="4067175"/>
            <a:ext cx="7371159" cy="9525"/>
          </a:xfrm>
          <a:prstGeom prst="rect">
            <a:avLst/>
          </a:prstGeom>
          <a:solidFill>
            <a:srgbClr val="DD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09600" y="4581525"/>
            <a:ext cx="3601640" cy="9525"/>
          </a:xfrm>
          <a:prstGeom prst="rect">
            <a:avLst/>
          </a:prstGeom>
          <a:solidFill>
            <a:srgbClr val="DD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211240" y="4581525"/>
            <a:ext cx="7371159" cy="9525"/>
          </a:xfrm>
          <a:prstGeom prst="rect">
            <a:avLst/>
          </a:prstGeom>
          <a:solidFill>
            <a:srgbClr val="DD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09600" y="5095875"/>
            <a:ext cx="3601640" cy="9525"/>
          </a:xfrm>
          <a:prstGeom prst="rect">
            <a:avLst/>
          </a:prstGeom>
          <a:solidFill>
            <a:srgbClr val="DD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211240" y="5095875"/>
            <a:ext cx="7371159" cy="9525"/>
          </a:xfrm>
          <a:prstGeom prst="rect">
            <a:avLst/>
          </a:prstGeom>
          <a:solidFill>
            <a:srgbClr val="DD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09600" y="5610225"/>
            <a:ext cx="3601640" cy="9525"/>
          </a:xfrm>
          <a:prstGeom prst="rect">
            <a:avLst/>
          </a:prstGeom>
          <a:solidFill>
            <a:srgbClr val="DD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211240" y="5610225"/>
            <a:ext cx="7371159" cy="9525"/>
          </a:xfrm>
          <a:prstGeom prst="rect">
            <a:avLst/>
          </a:prstGeom>
          <a:solidFill>
            <a:srgbClr val="DD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609600" y="3052762"/>
          <a:ext cx="10972799" cy="2571750"/>
        </p:xfrm>
        <a:graphic>
          <a:graphicData uri="http://schemas.openxmlformats.org/drawingml/2006/table">
            <a:tbl>
              <a:tblPr/>
              <a:tblGrid>
                <a:gridCol w="3601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711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4350">
                <a:tc>
                  <a:txBody>
                    <a:bodyPr/>
                    <a:lstStyle/>
                    <a:p>
                      <a:pPr algn="l"/>
                      <a:r>
                        <a:rPr sz="1425" b="1" i="0" u="none">
                          <a:solidFill>
                            <a:srgbClr val="191919"/>
                          </a:solidFill>
                          <a:latin typeface="DM Sans"/>
                        </a:rPr>
                        <a:t>Command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EC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25" b="1" i="0" u="none">
                          <a:solidFill>
                            <a:srgbClr val="191919"/>
                          </a:solidFill>
                          <a:latin typeface="DM Sans"/>
                        </a:rPr>
                        <a:t>Purpose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EC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algn="l"/>
                      <a:r>
                        <a:rPr sz="1425" b="0" i="0" u="none">
                          <a:solidFill>
                            <a:srgbClr val="191919"/>
                          </a:solidFill>
                          <a:latin typeface="DM Sans"/>
                        </a:rPr>
                        <a:t>git add 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25" b="0" i="0" u="none">
                          <a:solidFill>
                            <a:srgbClr val="191919"/>
                          </a:solidFill>
                          <a:latin typeface="DM Sans"/>
                        </a:rPr>
                        <a:t>Stage eligible changes within the current directory scope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algn="l"/>
                      <a:r>
                        <a:rPr sz="1425" b="0" i="0" u="none">
                          <a:solidFill>
                            <a:srgbClr val="191919"/>
                          </a:solidFill>
                          <a:latin typeface="DM Sans"/>
                        </a:rPr>
                        <a:t>git add -A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25" b="0" i="0" u="none">
                          <a:solidFill>
                            <a:srgbClr val="191919"/>
                          </a:solidFill>
                          <a:latin typeface="DM Sans"/>
                        </a:rPr>
                        <a:t>Stage all relevant repository changes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algn="l"/>
                      <a:r>
                        <a:rPr sz="1425" b="0" i="0" u="none">
                          <a:solidFill>
                            <a:srgbClr val="191919"/>
                          </a:solidFill>
                          <a:latin typeface="DM Sans"/>
                        </a:rPr>
                        <a:t>git commit -m "Message"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25" b="0" i="0" u="none">
                          <a:solidFill>
                            <a:srgbClr val="191919"/>
                          </a:solidFill>
                          <a:latin typeface="DM Sans"/>
                        </a:rPr>
                        <a:t>Commit staged changes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algn="l"/>
                      <a:r>
                        <a:rPr sz="1425" b="0" i="0" u="none">
                          <a:solidFill>
                            <a:srgbClr val="191919"/>
                          </a:solidFill>
                          <a:latin typeface="DM Sans"/>
                        </a:rPr>
                        <a:t>git commit -a -m "Message"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25" b="0" i="0" u="none">
                          <a:solidFill>
                            <a:srgbClr val="191919"/>
                          </a:solidFill>
                          <a:latin typeface="DM Sans"/>
                        </a:rPr>
                        <a:t>Automatically stage tracked modifications/deletions and commit them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2878D0"/>
                </a:solidFill>
                <a:latin typeface="JetBrains Mono"/>
              </a:rPr>
              <a:t>28 // SHORTCUT &amp; LIMITATIONS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600" y="704850"/>
            <a:ext cx="11582400" cy="4476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191919"/>
                </a:solidFill>
                <a:latin typeface="DM Sans"/>
              </a:rPr>
              <a:t>The Commit -a Shortcut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8200" y="2252662"/>
            <a:ext cx="50101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191919"/>
                </a:solidFill>
                <a:latin typeface="DM Sans"/>
              </a:rPr>
              <a:t>Case 1 (Tracked File Modified):</a:t>
            </a:r>
            <a:r>
              <a:rPr sz="1350" b="0" i="0" u="none">
                <a:solidFill>
                  <a:srgbClr val="191919"/>
                </a:solidFill>
                <a:latin typeface="DM Sans"/>
              </a:rPr>
              <a:t> git commit -a -m "Update homepage" stages and commits index.html.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38900" y="2252662"/>
            <a:ext cx="50101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191919"/>
                </a:solidFill>
                <a:latin typeface="DM Sans"/>
              </a:rPr>
              <a:t>Case 2 (New File about.html):</a:t>
            </a:r>
            <a:r>
              <a:rPr sz="1350" b="0" i="0" u="none">
                <a:solidFill>
                  <a:srgbClr val="191919"/>
                </a:solidFill>
                <a:latin typeface="DM Sans"/>
              </a:rPr>
              <a:t> Ignored by -a! Run git add about.html first.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3028950"/>
            <a:ext cx="5524500" cy="1762125"/>
          </a:xfrm>
          <a:prstGeom prst="roundRect">
            <a:avLst>
              <a:gd name="adj" fmla="val 4324"/>
            </a:avLst>
          </a:prstGeom>
          <a:solidFill>
            <a:srgbClr val="171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2878D0"/>
                </a:solidFill>
                <a:latin typeface="JetBrains Mono"/>
              </a:rPr>
              <a:t>29 // SECTION D: INSPECT &amp; UNDO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704850"/>
            <a:ext cx="11582400" cy="4476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191919"/>
                </a:solidFill>
                <a:latin typeface="DM Sans"/>
              </a:rPr>
              <a:t>Inspect Commit Details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6300" y="3295650"/>
            <a:ext cx="6238875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2878D0"/>
                </a:solidFill>
                <a:latin typeface="JetBrains Mono"/>
              </a:rPr>
              <a:t>$ git show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6300" y="3638550"/>
            <a:ext cx="623887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E6A23C"/>
                </a:solidFill>
                <a:latin typeface="JetBrains Mono"/>
              </a:rPr>
              <a:t>commit f9d8e7c (HEAD -&gt; main)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6300" y="3914775"/>
            <a:ext cx="6238875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0" i="0" u="none">
                <a:solidFill>
                  <a:srgbClr val="2E8B57"/>
                </a:solidFill>
                <a:latin typeface="JetBrains Mono"/>
              </a:rPr>
              <a:t>+ Welcome to Git Workshop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6300" y="4276725"/>
            <a:ext cx="6238875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2878D0"/>
                </a:solidFill>
                <a:latin typeface="JetBrains Mono"/>
              </a:rPr>
              <a:t>$ git show a1b2c3d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53225" y="2938462"/>
            <a:ext cx="66675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191919"/>
                </a:solidFill>
                <a:latin typeface="DM Sans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19900" y="2967037"/>
            <a:ext cx="4857750" cy="495300"/>
          </a:xfrm>
          <a:prstGeom prst="rect">
            <a:avLst/>
          </a:prstGeom>
          <a:noFill/>
        </p:spPr>
        <p:txBody>
          <a:bodyPr wrap="square" lIns="66675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91919"/>
                </a:solidFill>
                <a:latin typeface="DM Sans"/>
              </a:rPr>
              <a:t>git show:</a:t>
            </a:r>
            <a:r>
              <a:rPr sz="1500" b="0" i="0" u="none">
                <a:solidFill>
                  <a:srgbClr val="191919"/>
                </a:solidFill>
                <a:latin typeface="DM Sans"/>
              </a:rPr>
              <a:t> Displays metadata and exact diff of the latest commit.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53225" y="3567112"/>
            <a:ext cx="66675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191919"/>
                </a:solidFill>
                <a:latin typeface="DM Sans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19900" y="3595687"/>
            <a:ext cx="4857750" cy="495300"/>
          </a:xfrm>
          <a:prstGeom prst="rect">
            <a:avLst/>
          </a:prstGeom>
          <a:noFill/>
        </p:spPr>
        <p:txBody>
          <a:bodyPr wrap="square" lIns="66675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91919"/>
                </a:solidFill>
                <a:latin typeface="DM Sans"/>
              </a:rPr>
              <a:t> Placeholder:</a:t>
            </a:r>
            <a:r>
              <a:rPr sz="1500" b="0" i="0" u="none">
                <a:solidFill>
                  <a:srgbClr val="191919"/>
                </a:solidFill>
                <a:latin typeface="DM Sans"/>
              </a:rPr>
              <a:t> Replace angle brackets with a real commit hash like a1b2c3d.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53225" y="4195762"/>
            <a:ext cx="66675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191919"/>
                </a:solidFill>
                <a:latin typeface="DM Sans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19900" y="4224337"/>
            <a:ext cx="4857750" cy="495300"/>
          </a:xfrm>
          <a:prstGeom prst="rect">
            <a:avLst/>
          </a:prstGeom>
          <a:noFill/>
        </p:spPr>
        <p:txBody>
          <a:bodyPr wrap="square" lIns="66675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91919"/>
                </a:solidFill>
                <a:latin typeface="DM Sans"/>
              </a:rPr>
              <a:t>Read-Only:</a:t>
            </a:r>
            <a:r>
              <a:rPr sz="1500" b="0" i="0" u="none">
                <a:solidFill>
                  <a:srgbClr val="191919"/>
                </a:solidFill>
                <a:latin typeface="DM Sans"/>
              </a:rPr>
              <a:t> Safely inspects history without altering files.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862262"/>
            <a:ext cx="10972800" cy="676275"/>
          </a:xfrm>
          <a:prstGeom prst="roundRect">
            <a:avLst>
              <a:gd name="adj" fmla="val 11267"/>
            </a:avLst>
          </a:prstGeom>
          <a:solidFill>
            <a:srgbClr val="171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09600" y="3805237"/>
            <a:ext cx="5491162" cy="11144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091237" y="3805237"/>
            <a:ext cx="9525" cy="1114425"/>
          </a:xfrm>
          <a:prstGeom prst="rect">
            <a:avLst/>
          </a:prstGeom>
          <a:solidFill>
            <a:srgbClr val="DD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2878D0"/>
                </a:solidFill>
                <a:latin typeface="JetBrains Mono"/>
              </a:rPr>
              <a:t>30 // UNSTAGING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704850"/>
            <a:ext cx="11582400" cy="4476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191919"/>
                </a:solidFill>
                <a:latin typeface="DM Sans"/>
              </a:rPr>
              <a:t>Unstage Changes Safely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052762"/>
            <a:ext cx="11277600" cy="2952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2878D0"/>
                </a:solidFill>
                <a:latin typeface="JetBrains Mono"/>
              </a:rPr>
              <a:t>$ git restore --staged index.html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3805237"/>
            <a:ext cx="6594574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2E8B57"/>
                </a:solidFill>
                <a:latin typeface="DM Sans"/>
              </a:rPr>
              <a:t>Before Command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4176712"/>
            <a:ext cx="6280546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191919"/>
                </a:solidFill>
                <a:latin typeface="JetBrains Mono"/>
              </a:rPr>
              <a:t>Changes to be committed: modified: index.html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4471987"/>
            <a:ext cx="6280546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525252"/>
                </a:solidFill>
                <a:latin typeface="DM Sans"/>
              </a:rPr>
              <a:t>File is sitting inside the Staging Area.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57962" y="3805237"/>
            <a:ext cx="5634037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D9534F"/>
                </a:solidFill>
                <a:latin typeface="DM Sans"/>
              </a:rPr>
              <a:t>After Command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57962" y="4176712"/>
            <a:ext cx="5119687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191919"/>
                </a:solidFill>
                <a:latin typeface="JetBrains Mono"/>
              </a:rPr>
              <a:t>Changes not staged for commit: modified: index.html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57962" y="4691062"/>
            <a:ext cx="5634037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525252"/>
                </a:solidFill>
                <a:latin typeface="DM Sans"/>
              </a:rPr>
              <a:t>Moved back to Working Directory; edits preserved.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3171825"/>
            <a:ext cx="5524500" cy="1476375"/>
          </a:xfrm>
          <a:prstGeom prst="roundRect">
            <a:avLst>
              <a:gd name="adj" fmla="val 5161"/>
            </a:avLst>
          </a:prstGeom>
          <a:solidFill>
            <a:srgbClr val="171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1300" y="2781300"/>
            <a:ext cx="228600" cy="228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D9534F"/>
                </a:solidFill>
                <a:latin typeface="JetBrains Mono"/>
              </a:rPr>
              <a:t>31 // DESTRUCTIVE OPERATION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704850"/>
            <a:ext cx="11582400" cy="4476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191919"/>
                </a:solidFill>
                <a:latin typeface="DM Sans"/>
              </a:rPr>
              <a:t>Discard Uncommitted Edits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6300" y="3438525"/>
            <a:ext cx="6238875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25" b="0" i="0" u="none">
                <a:solidFill>
                  <a:srgbClr val="2878D0"/>
                </a:solidFill>
                <a:latin typeface="JetBrains Mono"/>
              </a:rPr>
              <a:t>$ git diff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6300" y="3752850"/>
            <a:ext cx="6238875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0" i="0" u="none">
                <a:solidFill>
                  <a:srgbClr val="2E8B57"/>
                </a:solidFill>
                <a:latin typeface="JetBrains Mono"/>
              </a:rPr>
              <a:t>+ Temporary test 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6300" y="4133850"/>
            <a:ext cx="6238875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D9534F"/>
                </a:solidFill>
                <a:latin typeface="JetBrains Mono"/>
              </a:rPr>
              <a:t>$ git restore index.html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91300" y="2752725"/>
            <a:ext cx="5600700" cy="295275"/>
          </a:xfrm>
          <a:prstGeom prst="rect">
            <a:avLst/>
          </a:prstGeom>
          <a:noFill/>
        </p:spPr>
        <p:txBody>
          <a:bodyPr wrap="none" lIns="32385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D9534F"/>
                </a:solidFill>
                <a:latin typeface="DM Sans"/>
              </a:rPr>
              <a:t>Permanent Data Loss Warning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53225" y="3152775"/>
            <a:ext cx="66675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191919"/>
                </a:solidFill>
                <a:latin typeface="DM Sans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19900" y="3181350"/>
            <a:ext cx="4857750" cy="495300"/>
          </a:xfrm>
          <a:prstGeom prst="rect">
            <a:avLst/>
          </a:prstGeom>
          <a:noFill/>
        </p:spPr>
        <p:txBody>
          <a:bodyPr wrap="square" lIns="66675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91919"/>
                </a:solidFill>
                <a:latin typeface="DM Sans"/>
              </a:rPr>
              <a:t>Effect:</a:t>
            </a:r>
            <a:r>
              <a:rPr sz="1500" b="0" i="0" u="none">
                <a:solidFill>
                  <a:srgbClr val="191919"/>
                </a:solidFill>
                <a:latin typeface="DM Sans"/>
              </a:rPr>
              <a:t> Overwrites working file with last committed version.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53225" y="3781425"/>
            <a:ext cx="66675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191919"/>
                </a:solidFill>
                <a:latin typeface="DM Sans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19900" y="3810000"/>
            <a:ext cx="4857750" cy="495300"/>
          </a:xfrm>
          <a:prstGeom prst="rect">
            <a:avLst/>
          </a:prstGeom>
          <a:noFill/>
        </p:spPr>
        <p:txBody>
          <a:bodyPr wrap="square" lIns="66675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91919"/>
                </a:solidFill>
                <a:latin typeface="DM Sans"/>
              </a:rPr>
              <a:t>Irreversible:</a:t>
            </a:r>
            <a:r>
              <a:rPr sz="1500" b="0" i="0" u="none">
                <a:solidFill>
                  <a:srgbClr val="191919"/>
                </a:solidFill>
                <a:latin typeface="DM Sans"/>
              </a:rPr>
              <a:t> Discarded unstaged edits cannot be recovered.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53225" y="4410075"/>
            <a:ext cx="66675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191919"/>
                </a:solidFill>
                <a:latin typeface="DM Sans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19900" y="4438650"/>
            <a:ext cx="4857750" cy="495300"/>
          </a:xfrm>
          <a:prstGeom prst="rect">
            <a:avLst/>
          </a:prstGeom>
          <a:noFill/>
        </p:spPr>
        <p:txBody>
          <a:bodyPr wrap="square" lIns="66675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91919"/>
                </a:solidFill>
                <a:latin typeface="DM Sans"/>
              </a:rPr>
              <a:t>Safety Habit:</a:t>
            </a:r>
            <a:r>
              <a:rPr sz="1500" b="0" i="0" u="none">
                <a:solidFill>
                  <a:srgbClr val="191919"/>
                </a:solidFill>
                <a:latin typeface="DM Sans"/>
              </a:rPr>
              <a:t> Always inspect git diff before running git restore.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852737"/>
            <a:ext cx="10972800" cy="1047750"/>
          </a:xfrm>
          <a:prstGeom prst="roundRect">
            <a:avLst>
              <a:gd name="adj" fmla="val 7272"/>
            </a:avLst>
          </a:prstGeom>
          <a:solidFill>
            <a:srgbClr val="171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2878D0"/>
                </a:solidFill>
                <a:latin typeface="JetBrains Mono"/>
              </a:rPr>
              <a:t>32 // UNDOING COMMITS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704850"/>
            <a:ext cx="11582400" cy="4476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191919"/>
                </a:solidFill>
                <a:latin typeface="DM Sans"/>
              </a:rPr>
              <a:t>Safely Revert a Commit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081337"/>
            <a:ext cx="11277600" cy="2952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2878D0"/>
                </a:solidFill>
                <a:latin typeface="JetBrains Mono"/>
              </a:rPr>
              <a:t>$ git revert HEAD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452812"/>
            <a:ext cx="1127760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A0A4AB"/>
                </a:solidFill>
                <a:latin typeface="JetBrains Mono"/>
              </a:rPr>
              <a:t>[main c4d5e6f] Revert "Update homepage heading"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4205287"/>
            <a:ext cx="3375421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2878D0"/>
                </a:solidFill>
                <a:latin typeface="DM Sans"/>
              </a:rPr>
              <a:t>HEAD Pointer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4510087"/>
            <a:ext cx="2667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525252"/>
                </a:solidFill>
                <a:latin typeface="DM Sans"/>
              </a:rPr>
              <a:t>Refers to your currently checked-out commit.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09950" y="4205287"/>
            <a:ext cx="3375421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2878D0"/>
                </a:solidFill>
                <a:latin typeface="DM Sans"/>
              </a:rPr>
              <a:t>New Inverse Commit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09950" y="4510087"/>
            <a:ext cx="2667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525252"/>
                </a:solidFill>
                <a:latin typeface="DM Sans"/>
              </a:rPr>
              <a:t>Records a new commit that reverses prior changes.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0300" y="4205287"/>
            <a:ext cx="3375421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2878D0"/>
                </a:solidFill>
                <a:latin typeface="DM Sans"/>
              </a:rPr>
              <a:t>Preserves History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0300" y="4510087"/>
            <a:ext cx="2667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525252"/>
                </a:solidFill>
                <a:latin typeface="DM Sans"/>
              </a:rPr>
              <a:t>Does not delete the original commit from log.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10650" y="4205287"/>
            <a:ext cx="3181350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2878D0"/>
                </a:solidFill>
                <a:latin typeface="DM Sans"/>
              </a:rPr>
              <a:t>Revert vs Restore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10650" y="4510087"/>
            <a:ext cx="2667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525252"/>
                </a:solidFill>
                <a:latin typeface="DM Sans"/>
              </a:rPr>
              <a:t>Revert undoes commits; restore undoes uncommitted edits.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2878D0"/>
                </a:solidFill>
                <a:latin typeface="JetBrains Mono"/>
              </a:rPr>
              <a:t>33 // SECTION E: BRANCHING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704850"/>
            <a:ext cx="11582400" cy="4476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191919"/>
                </a:solidFill>
                <a:latin typeface="DM Sans"/>
              </a:rPr>
              <a:t>What Is a Git Branch?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3252787"/>
            <a:ext cx="5562600" cy="1314450"/>
          </a:xfrm>
          <a:prstGeom prst="roundRect">
            <a:avLst>
              <a:gd name="adj" fmla="val 5797"/>
            </a:avLst>
          </a:prstGeom>
          <a:solidFill>
            <a:srgbClr val="171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2878D0"/>
                </a:solidFill>
                <a:latin typeface="JetBrains Mono"/>
              </a:rPr>
              <a:t>34 // INSPECTING BRANCHES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704850"/>
            <a:ext cx="11582400" cy="4476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191919"/>
                </a:solidFill>
                <a:latin typeface="DM Sans"/>
              </a:rPr>
              <a:t>List Local Branches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557587"/>
            <a:ext cx="6191250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2878D0"/>
                </a:solidFill>
                <a:latin typeface="JetBrains Mono"/>
              </a:rPr>
              <a:t>$ git branch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986212"/>
            <a:ext cx="6191250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2E8B57"/>
                </a:solidFill>
                <a:latin typeface="JetBrains Mono"/>
              </a:rPr>
              <a:t>* main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91325" y="2938462"/>
            <a:ext cx="66675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191919"/>
                </a:solidFill>
                <a:latin typeface="DM Sans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0" y="2967037"/>
            <a:ext cx="4819650" cy="495300"/>
          </a:xfrm>
          <a:prstGeom prst="rect">
            <a:avLst/>
          </a:prstGeom>
          <a:noFill/>
        </p:spPr>
        <p:txBody>
          <a:bodyPr wrap="square" lIns="66675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91919"/>
                </a:solidFill>
                <a:latin typeface="DM Sans"/>
              </a:rPr>
              <a:t>git branch:</a:t>
            </a:r>
            <a:r>
              <a:rPr sz="1500" b="0" i="0" u="none">
                <a:solidFill>
                  <a:srgbClr val="191919"/>
                </a:solidFill>
                <a:latin typeface="DM Sans"/>
              </a:rPr>
              <a:t> Lists all branches stored in your local repository.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91325" y="3567112"/>
            <a:ext cx="66675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191919"/>
                </a:solidFill>
                <a:latin typeface="DM Sans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3595687"/>
            <a:ext cx="4819650" cy="495300"/>
          </a:xfrm>
          <a:prstGeom prst="rect">
            <a:avLst/>
          </a:prstGeom>
          <a:noFill/>
        </p:spPr>
        <p:txBody>
          <a:bodyPr wrap="square" lIns="66675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91919"/>
                </a:solidFill>
                <a:latin typeface="DM Sans"/>
              </a:rPr>
              <a:t>Asterisk (*):</a:t>
            </a:r>
            <a:r>
              <a:rPr sz="1500" b="0" i="0" u="none">
                <a:solidFill>
                  <a:srgbClr val="191919"/>
                </a:solidFill>
                <a:latin typeface="DM Sans"/>
              </a:rPr>
              <a:t> Indicates the currently active branch (`HEAD`).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91325" y="4195762"/>
            <a:ext cx="66675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191919"/>
                </a:solidFill>
                <a:latin typeface="DM Sans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4224337"/>
            <a:ext cx="4819650" cy="495300"/>
          </a:xfrm>
          <a:prstGeom prst="rect">
            <a:avLst/>
          </a:prstGeom>
          <a:noFill/>
        </p:spPr>
        <p:txBody>
          <a:bodyPr wrap="square" lIns="66675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91919"/>
                </a:solidFill>
                <a:latin typeface="DM Sans"/>
              </a:rPr>
              <a:t>Where Commits Go:</a:t>
            </a:r>
            <a:r>
              <a:rPr sz="1500" b="0" i="0" u="none">
                <a:solidFill>
                  <a:srgbClr val="191919"/>
                </a:solidFill>
                <a:latin typeface="DM Sans"/>
              </a:rPr>
              <a:t> Any new commit is added to the starred branch.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843212"/>
            <a:ext cx="10972800" cy="1066800"/>
          </a:xfrm>
          <a:prstGeom prst="roundRect">
            <a:avLst>
              <a:gd name="adj" fmla="val 7142"/>
            </a:avLst>
          </a:prstGeom>
          <a:solidFill>
            <a:srgbClr val="171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2878D0"/>
                </a:solidFill>
                <a:latin typeface="JetBrains Mono"/>
              </a:rPr>
              <a:t>35 // CREATING BRANCHES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704850"/>
            <a:ext cx="11582400" cy="4476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191919"/>
                </a:solidFill>
                <a:latin typeface="DM Sans"/>
              </a:rPr>
              <a:t>Create and Switch Branch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071812"/>
            <a:ext cx="11277600" cy="2952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2878D0"/>
                </a:solidFill>
                <a:latin typeface="JetBrains Mono"/>
              </a:rPr>
              <a:t>$ git switch -c feature-navbar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462337"/>
            <a:ext cx="1127760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A0A4AB"/>
                </a:solidFill>
                <a:latin typeface="JetBrains Mono"/>
              </a:rPr>
              <a:t>Switched to a new branch 'feature-navbar'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4214812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2878D0"/>
                </a:solidFill>
                <a:latin typeface="JetBrains Mono"/>
              </a:rPr>
              <a:t>switch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4519612"/>
            <a:ext cx="36004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525252"/>
                </a:solidFill>
                <a:latin typeface="DM Sans"/>
              </a:rPr>
              <a:t>Modern command for changing active branches.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43400" y="4214812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2878D0"/>
                </a:solidFill>
                <a:latin typeface="JetBrains Mono"/>
              </a:rPr>
              <a:t>-c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43400" y="4519612"/>
            <a:ext cx="36004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525252"/>
                </a:solidFill>
                <a:latin typeface="DM Sans"/>
              </a:rPr>
              <a:t>Creates the new branch before switching to 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77200" y="4214812"/>
            <a:ext cx="4114800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2878D0"/>
                </a:solidFill>
                <a:latin typeface="JetBrains Mono"/>
              </a:rPr>
              <a:t>feature-navbar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77200" y="4519612"/>
            <a:ext cx="36004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525252"/>
                </a:solidFill>
                <a:latin typeface="DM Sans"/>
              </a:rPr>
              <a:t>Descriptive name for the isolated feature branch.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3290887"/>
            <a:ext cx="5562600" cy="1238250"/>
          </a:xfrm>
          <a:prstGeom prst="roundRect">
            <a:avLst>
              <a:gd name="adj" fmla="val 6153"/>
            </a:avLst>
          </a:prstGeom>
          <a:solidFill>
            <a:srgbClr val="171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2878D0"/>
                </a:solidFill>
                <a:latin typeface="JetBrains Mono"/>
              </a:rPr>
              <a:t>36 // SWITCHING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704850"/>
            <a:ext cx="11582400" cy="4476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191919"/>
                </a:solidFill>
                <a:latin typeface="DM Sans"/>
              </a:rPr>
              <a:t>Switch Back to Main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595687"/>
            <a:ext cx="6191250" cy="2952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2878D0"/>
                </a:solidFill>
                <a:latin typeface="JetBrains Mono"/>
              </a:rPr>
              <a:t>$ git switch main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005262"/>
            <a:ext cx="619125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A0A4AB"/>
                </a:solidFill>
                <a:latin typeface="JetBrains Mono"/>
              </a:rPr>
              <a:t>Switched to branch 'main'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91325" y="3062287"/>
            <a:ext cx="66675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191919"/>
                </a:solidFill>
                <a:latin typeface="DM Sans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0" y="3090862"/>
            <a:ext cx="5334000" cy="247650"/>
          </a:xfrm>
          <a:prstGeom prst="rect">
            <a:avLst/>
          </a:prstGeom>
          <a:noFill/>
        </p:spPr>
        <p:txBody>
          <a:bodyPr wrap="none" lIns="66675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91919"/>
                </a:solidFill>
                <a:latin typeface="DM Sans"/>
              </a:rPr>
              <a:t>No -c Flag:</a:t>
            </a:r>
            <a:r>
              <a:rPr sz="1500" b="0" i="0" u="none">
                <a:solidFill>
                  <a:srgbClr val="191919"/>
                </a:solidFill>
                <a:latin typeface="DM Sans"/>
              </a:rPr>
              <a:t> Omit -c because main already exists.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91325" y="3443287"/>
            <a:ext cx="66675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191919"/>
                </a:solidFill>
                <a:latin typeface="DM Sans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3471862"/>
            <a:ext cx="4819650" cy="495300"/>
          </a:xfrm>
          <a:prstGeom prst="rect">
            <a:avLst/>
          </a:prstGeom>
          <a:noFill/>
        </p:spPr>
        <p:txBody>
          <a:bodyPr wrap="square" lIns="66675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91919"/>
                </a:solidFill>
                <a:latin typeface="DM Sans"/>
              </a:rPr>
              <a:t>Working Directory Updates:</a:t>
            </a:r>
            <a:r>
              <a:rPr sz="1500" b="0" i="0" u="none">
                <a:solidFill>
                  <a:srgbClr val="191919"/>
                </a:solidFill>
                <a:latin typeface="DM Sans"/>
              </a:rPr>
              <a:t> Files in VS Code immediately reflect main snapshot.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91325" y="4071937"/>
            <a:ext cx="66675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191919"/>
                </a:solidFill>
                <a:latin typeface="DM Sans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4100512"/>
            <a:ext cx="4819650" cy="495300"/>
          </a:xfrm>
          <a:prstGeom prst="rect">
            <a:avLst/>
          </a:prstGeom>
          <a:noFill/>
        </p:spPr>
        <p:txBody>
          <a:bodyPr wrap="square" lIns="66675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91919"/>
                </a:solidFill>
                <a:latin typeface="DM Sans"/>
              </a:rPr>
              <a:t>Why Return to Main:</a:t>
            </a:r>
            <a:r>
              <a:rPr sz="1500" b="0" i="0" u="none">
                <a:solidFill>
                  <a:srgbClr val="191919"/>
                </a:solidFill>
                <a:latin typeface="DM Sans"/>
              </a:rPr>
              <a:t> Prepare to merge finished feature work or start another branch.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519362"/>
            <a:ext cx="10972800" cy="1333500"/>
          </a:xfrm>
          <a:prstGeom prst="roundRect">
            <a:avLst>
              <a:gd name="adj" fmla="val 5714"/>
            </a:avLst>
          </a:prstGeom>
          <a:solidFill>
            <a:srgbClr val="171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4157662"/>
            <a:ext cx="3505200" cy="1143000"/>
          </a:xfrm>
          <a:prstGeom prst="roundRect">
            <a:avLst>
              <a:gd name="adj" fmla="val 6666"/>
            </a:avLst>
          </a:prstGeom>
          <a:solidFill>
            <a:srgbClr val="EFEC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343400" y="4157662"/>
            <a:ext cx="3505200" cy="1143000"/>
          </a:xfrm>
          <a:prstGeom prst="roundRect">
            <a:avLst>
              <a:gd name="adj" fmla="val 6666"/>
            </a:avLst>
          </a:prstGeom>
          <a:solidFill>
            <a:srgbClr val="EFEC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077200" y="4157662"/>
            <a:ext cx="3505200" cy="1143000"/>
          </a:xfrm>
          <a:prstGeom prst="roundRect">
            <a:avLst>
              <a:gd name="adj" fmla="val 6666"/>
            </a:avLst>
          </a:prstGeom>
          <a:solidFill>
            <a:srgbClr val="EFEC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2878D0"/>
                </a:solidFill>
                <a:latin typeface="JetBrains Mono"/>
              </a:rPr>
              <a:t>37 // INTEGRATING 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704850"/>
            <a:ext cx="11582400" cy="4476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191919"/>
                </a:solidFill>
                <a:latin typeface="DM Sans"/>
              </a:rPr>
              <a:t>Merge Feature Into Main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747962"/>
            <a:ext cx="11277600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2878D0"/>
                </a:solidFill>
                <a:latin typeface="JetBrains Mono"/>
              </a:rPr>
              <a:t>$ git switch main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071812"/>
            <a:ext cx="11277600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2878D0"/>
                </a:solidFill>
                <a:latin typeface="JetBrains Mono"/>
              </a:rPr>
              <a:t>$ git merge feature-navbar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414712"/>
            <a:ext cx="11277600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0" i="0" u="none">
                <a:solidFill>
                  <a:srgbClr val="A0A4AB"/>
                </a:solidFill>
                <a:latin typeface="JetBrains Mono"/>
              </a:rPr>
              <a:t>Updating f9d8e7c..b7c8d9e — Fast-forward (index.html | 4 ++++)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200" y="4348162"/>
            <a:ext cx="4000500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91919"/>
                </a:solidFill>
                <a:latin typeface="DM Sans"/>
              </a:rPr>
              <a:t>1. Target Branch First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200" y="4652962"/>
            <a:ext cx="381000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525252"/>
                </a:solidFill>
                <a:latin typeface="DM Sans"/>
              </a:rPr>
              <a:t>Switch to main before merging.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4348162"/>
            <a:ext cx="4000500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91919"/>
                </a:solidFill>
                <a:latin typeface="DM Sans"/>
              </a:rPr>
              <a:t>2. Run git merge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4652962"/>
            <a:ext cx="31432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525252"/>
                </a:solidFill>
                <a:latin typeface="DM Sans"/>
              </a:rPr>
              <a:t>Pass source branch feature-navbar.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05800" y="4348162"/>
            <a:ext cx="3886200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91919"/>
                </a:solidFill>
                <a:latin typeface="DM Sans"/>
              </a:rPr>
              <a:t>3. Fast-Forward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05800" y="4652962"/>
            <a:ext cx="381000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525252"/>
                </a:solidFill>
                <a:latin typeface="DM Sans"/>
              </a:rPr>
              <a:t>main incorporates navbar commit.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2878D0"/>
                </a:solidFill>
                <a:latin typeface="JetBrains Mono"/>
              </a:rPr>
              <a:t>38 // SECTION F: GITHUB &amp; REMOTES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704850"/>
            <a:ext cx="11582400" cy="4476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191919"/>
                </a:solidFill>
                <a:latin typeface="DM Sans"/>
              </a:rPr>
              <a:t>Create Remote on GitHub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4852987"/>
            <a:ext cx="11582400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2878D0"/>
                </a:solidFill>
                <a:latin typeface="DM Sans"/>
              </a:rPr>
              <a:t>Why Empty? Creating an empty remote prevents unrelated-history conflicts when pushing an existing local repo.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2950" y="2690812"/>
            <a:ext cx="95250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191919"/>
                </a:solidFill>
                <a:latin typeface="DM Sans"/>
              </a:rPr>
              <a:t>1.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8200" y="2719387"/>
            <a:ext cx="11353800" cy="247650"/>
          </a:xfrm>
          <a:prstGeom prst="rect">
            <a:avLst/>
          </a:prstGeom>
          <a:noFill/>
        </p:spPr>
        <p:txBody>
          <a:bodyPr wrap="none" lIns="9525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91919"/>
                </a:solidFill>
                <a:latin typeface="DM Sans"/>
              </a:rPr>
              <a:t>Sign In:</a:t>
            </a:r>
            <a:r>
              <a:rPr sz="1500" b="0" i="0" u="none">
                <a:solidFill>
                  <a:srgbClr val="191919"/>
                </a:solidFill>
                <a:latin typeface="DM Sans"/>
              </a:rPr>
              <a:t> Log into your account at github.com.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071812"/>
            <a:ext cx="152400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191919"/>
                </a:solidFill>
                <a:latin typeface="DM Sans"/>
              </a:rPr>
              <a:t>2.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200" y="3100387"/>
            <a:ext cx="11353800" cy="247650"/>
          </a:xfrm>
          <a:prstGeom prst="rect">
            <a:avLst/>
          </a:prstGeom>
          <a:noFill/>
        </p:spPr>
        <p:txBody>
          <a:bodyPr wrap="none" lIns="15240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91919"/>
                </a:solidFill>
                <a:latin typeface="DM Sans"/>
              </a:rPr>
              <a:t>New Repository:</a:t>
            </a:r>
            <a:r>
              <a:rPr sz="1500" b="0" i="0" u="none">
                <a:solidFill>
                  <a:srgbClr val="191919"/>
                </a:solidFill>
                <a:latin typeface="DM Sans"/>
              </a:rPr>
              <a:t> Click the </a:t>
            </a:r>
            <a:r>
              <a:rPr sz="1500" b="1" i="0" u="none">
                <a:solidFill>
                  <a:srgbClr val="191919"/>
                </a:solidFill>
                <a:latin typeface="DM Sans"/>
              </a:rPr>
              <a:t>+</a:t>
            </a:r>
            <a:r>
              <a:rPr sz="1500" b="0" i="0" u="none">
                <a:solidFill>
                  <a:srgbClr val="191919"/>
                </a:solidFill>
                <a:latin typeface="DM Sans"/>
              </a:rPr>
              <a:t> icon in the top-right corner and select </a:t>
            </a:r>
            <a:r>
              <a:rPr sz="1500" b="1" i="0" u="none">
                <a:solidFill>
                  <a:srgbClr val="191919"/>
                </a:solidFill>
                <a:latin typeface="DM Sans"/>
              </a:rPr>
              <a:t>New repository</a:t>
            </a:r>
            <a:r>
              <a:rPr sz="1500" b="0" i="0" u="none">
                <a:solidFill>
                  <a:srgbClr val="191919"/>
                </a:solidFill>
                <a:latin typeface="DM Sans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452812"/>
            <a:ext cx="152400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191919"/>
                </a:solidFill>
                <a:latin typeface="DM Sans"/>
              </a:rPr>
              <a:t>3.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3481387"/>
            <a:ext cx="11353800" cy="247650"/>
          </a:xfrm>
          <a:prstGeom prst="rect">
            <a:avLst/>
          </a:prstGeom>
          <a:noFill/>
        </p:spPr>
        <p:txBody>
          <a:bodyPr wrap="none" lIns="15240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91919"/>
                </a:solidFill>
                <a:latin typeface="DM Sans"/>
              </a:rPr>
              <a:t>Repository Name:</a:t>
            </a:r>
            <a:r>
              <a:rPr sz="1500" b="0" i="0" u="none">
                <a:solidFill>
                  <a:srgbClr val="191919"/>
                </a:solidFill>
                <a:latin typeface="DM Sans"/>
              </a:rPr>
              <a:t> Enter git-practice to match your local folder.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833812"/>
            <a:ext cx="152400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191919"/>
                </a:solidFill>
                <a:latin typeface="DM Sans"/>
              </a:rPr>
              <a:t>4.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200" y="3862387"/>
            <a:ext cx="11353800" cy="247650"/>
          </a:xfrm>
          <a:prstGeom prst="rect">
            <a:avLst/>
          </a:prstGeom>
          <a:noFill/>
        </p:spPr>
        <p:txBody>
          <a:bodyPr wrap="none" lIns="15240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91919"/>
                </a:solidFill>
                <a:latin typeface="DM Sans"/>
              </a:rPr>
              <a:t>Visibility:</a:t>
            </a:r>
            <a:r>
              <a:rPr sz="1500" b="0" i="0" u="none">
                <a:solidFill>
                  <a:srgbClr val="191919"/>
                </a:solidFill>
                <a:latin typeface="DM Sans"/>
              </a:rPr>
              <a:t> Choose </a:t>
            </a:r>
            <a:r>
              <a:rPr sz="1500" b="1" i="0" u="none">
                <a:solidFill>
                  <a:srgbClr val="191919"/>
                </a:solidFill>
                <a:latin typeface="DM Sans"/>
              </a:rPr>
              <a:t>Public</a:t>
            </a:r>
            <a:r>
              <a:rPr sz="1500" b="0" i="0" u="none">
                <a:solidFill>
                  <a:srgbClr val="191919"/>
                </a:solidFill>
                <a:latin typeface="DM Sans"/>
              </a:rPr>
              <a:t> or </a:t>
            </a:r>
            <a:r>
              <a:rPr sz="1500" b="1" i="0" u="none">
                <a:solidFill>
                  <a:srgbClr val="191919"/>
                </a:solidFill>
                <a:latin typeface="DM Sans"/>
              </a:rPr>
              <a:t>Private</a:t>
            </a:r>
            <a:r>
              <a:rPr sz="1500" b="0" i="0" u="none">
                <a:solidFill>
                  <a:srgbClr val="191919"/>
                </a:solidFill>
                <a:latin typeface="DM Sans"/>
              </a:rPr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214812"/>
            <a:ext cx="152400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191919"/>
                </a:solidFill>
                <a:latin typeface="DM Sans"/>
              </a:rPr>
              <a:t>5.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200" y="4243387"/>
            <a:ext cx="11353800" cy="247650"/>
          </a:xfrm>
          <a:prstGeom prst="rect">
            <a:avLst/>
          </a:prstGeom>
          <a:noFill/>
        </p:spPr>
        <p:txBody>
          <a:bodyPr wrap="none" lIns="15240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91919"/>
                </a:solidFill>
                <a:latin typeface="DM Sans"/>
              </a:rPr>
              <a:t>Create Empty Remote:</a:t>
            </a:r>
            <a:r>
              <a:rPr sz="1500" b="0" i="0" u="none">
                <a:solidFill>
                  <a:srgbClr val="191919"/>
                </a:solidFill>
                <a:latin typeface="DM Sans"/>
              </a:rPr>
              <a:t> Leave README, .gitignore, and license </a:t>
            </a:r>
            <a:r>
              <a:rPr sz="1500" b="1" i="0" u="none">
                <a:solidFill>
                  <a:srgbClr val="191919"/>
                </a:solidFill>
                <a:latin typeface="DM Sans"/>
              </a:rPr>
              <a:t>unchecked</a:t>
            </a:r>
            <a:r>
              <a:rPr sz="1500" b="0" i="0" u="none">
                <a:solidFill>
                  <a:srgbClr val="191919"/>
                </a:solidFill>
                <a:latin typeface="DM Sans"/>
              </a:rPr>
              <a:t>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3005137"/>
            <a:ext cx="10972800" cy="704850"/>
          </a:xfrm>
          <a:prstGeom prst="roundRect">
            <a:avLst>
              <a:gd name="adj" fmla="val 10810"/>
            </a:avLst>
          </a:prstGeom>
          <a:solidFill>
            <a:srgbClr val="171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2878D0"/>
                </a:solidFill>
                <a:latin typeface="JetBrains Mono"/>
              </a:rPr>
              <a:t>39 // LINKING REMOTE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704850"/>
            <a:ext cx="11582400" cy="4476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191919"/>
                </a:solidFill>
                <a:latin typeface="DM Sans"/>
              </a:rPr>
              <a:t>Connect Remote Repository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33737"/>
            <a:ext cx="11277600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2878D0"/>
                </a:solidFill>
                <a:latin typeface="JetBrains Mono"/>
              </a:rPr>
              <a:t>$ git remote add origin https://github.com/username/git-practice.git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4052887"/>
            <a:ext cx="3214687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2878D0"/>
                </a:solidFill>
                <a:latin typeface="JetBrains Mono"/>
              </a:rPr>
              <a:t>remote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4357687"/>
            <a:ext cx="2667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525252"/>
                </a:solidFill>
                <a:latin typeface="DM Sans"/>
              </a:rPr>
              <a:t>Manages external hosted repository links.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09950" y="4052887"/>
            <a:ext cx="3214687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2878D0"/>
                </a:solidFill>
                <a:latin typeface="JetBrains Mono"/>
              </a:rPr>
              <a:t>add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09950" y="4357687"/>
            <a:ext cx="2667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525252"/>
                </a:solidFill>
                <a:latin typeface="DM Sans"/>
              </a:rPr>
              <a:t>Registers a new remote connection bookmark.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0300" y="4052887"/>
            <a:ext cx="3214687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2878D0"/>
                </a:solidFill>
                <a:latin typeface="JetBrains Mono"/>
              </a:rPr>
              <a:t>origin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0300" y="4357687"/>
            <a:ext cx="2667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525252"/>
                </a:solidFill>
                <a:latin typeface="DM Sans"/>
              </a:rPr>
              <a:t>Conventional alias name for primary remote.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10650" y="4357687"/>
            <a:ext cx="2667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525252"/>
                </a:solidFill>
                <a:latin typeface="DM Sans"/>
              </a:rPr>
              <a:t>HTTPS or SSH address copied from GitHub.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3024187"/>
            <a:ext cx="5524500" cy="1771650"/>
          </a:xfrm>
          <a:prstGeom prst="roundRect">
            <a:avLst>
              <a:gd name="adj" fmla="val 4301"/>
            </a:avLst>
          </a:prstGeom>
          <a:solidFill>
            <a:srgbClr val="171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2878D0"/>
                </a:solidFill>
                <a:latin typeface="JetBrains Mono"/>
              </a:rPr>
              <a:t>40 // REMOTE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704850"/>
            <a:ext cx="11582400" cy="4476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191919"/>
                </a:solidFill>
                <a:latin typeface="DM Sans"/>
              </a:rPr>
              <a:t>Verify Remote URLs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6300" y="3290887"/>
            <a:ext cx="6238875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2878D0"/>
                </a:solidFill>
                <a:latin typeface="JetBrains Mono"/>
              </a:rPr>
              <a:t>$ git remote -v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6300" y="3652837"/>
            <a:ext cx="508635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F7F6F2"/>
                </a:solidFill>
                <a:latin typeface="JetBrains Mono"/>
              </a:rPr>
              <a:t>origin https://github.com/username/git-practice.git (fetch)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6300" y="4129087"/>
            <a:ext cx="508635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F7F6F2"/>
                </a:solidFill>
                <a:latin typeface="JetBrains Mono"/>
              </a:rPr>
              <a:t>origin https://github.com/username/git-practice.git (push)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53225" y="2938462"/>
            <a:ext cx="66675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191919"/>
                </a:solidFill>
                <a:latin typeface="DM Sans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19900" y="2967037"/>
            <a:ext cx="4857750" cy="495300"/>
          </a:xfrm>
          <a:prstGeom prst="rect">
            <a:avLst/>
          </a:prstGeom>
          <a:noFill/>
        </p:spPr>
        <p:txBody>
          <a:bodyPr wrap="square" lIns="66675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91919"/>
                </a:solidFill>
                <a:latin typeface="DM Sans"/>
              </a:rPr>
              <a:t>-v (--verbose):</a:t>
            </a:r>
            <a:r>
              <a:rPr sz="1500" b="0" i="0" u="none">
                <a:solidFill>
                  <a:srgbClr val="191919"/>
                </a:solidFill>
                <a:latin typeface="DM Sans"/>
              </a:rPr>
              <a:t> Displays both alias names and full destination URLs.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53225" y="3567112"/>
            <a:ext cx="66675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191919"/>
                </a:solidFill>
                <a:latin typeface="DM Sans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19900" y="3595687"/>
            <a:ext cx="4857750" cy="495300"/>
          </a:xfrm>
          <a:prstGeom prst="rect">
            <a:avLst/>
          </a:prstGeom>
          <a:noFill/>
        </p:spPr>
        <p:txBody>
          <a:bodyPr wrap="square" lIns="66675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91919"/>
                </a:solidFill>
                <a:latin typeface="DM Sans"/>
              </a:rPr>
              <a:t>(fetch) URL:</a:t>
            </a:r>
            <a:r>
              <a:rPr sz="1500" b="0" i="0" u="none">
                <a:solidFill>
                  <a:srgbClr val="191919"/>
                </a:solidFill>
                <a:latin typeface="DM Sans"/>
              </a:rPr>
              <a:t> Endpoint used when downloading updates from GitHub.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53225" y="4195762"/>
            <a:ext cx="66675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191919"/>
                </a:solidFill>
                <a:latin typeface="DM Sans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19900" y="4224337"/>
            <a:ext cx="4857750" cy="495300"/>
          </a:xfrm>
          <a:prstGeom prst="rect">
            <a:avLst/>
          </a:prstGeom>
          <a:noFill/>
        </p:spPr>
        <p:txBody>
          <a:bodyPr wrap="square" lIns="66675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91919"/>
                </a:solidFill>
                <a:latin typeface="DM Sans"/>
              </a:rPr>
              <a:t>(push) URL:</a:t>
            </a:r>
            <a:r>
              <a:rPr sz="1500" b="0" i="0" u="none">
                <a:solidFill>
                  <a:srgbClr val="191919"/>
                </a:solidFill>
                <a:latin typeface="DM Sans"/>
              </a:rPr>
              <a:t> Endpoint used when uploading local commits to GitHub.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924175"/>
            <a:ext cx="10972800" cy="866775"/>
          </a:xfrm>
          <a:prstGeom prst="roundRect">
            <a:avLst>
              <a:gd name="adj" fmla="val 8791"/>
            </a:avLst>
          </a:prstGeom>
          <a:solidFill>
            <a:srgbClr val="171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2878D0"/>
                </a:solidFill>
                <a:latin typeface="JetBrains Mono"/>
              </a:rPr>
              <a:t>41 // BRANCH NAMING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704850"/>
            <a:ext cx="11582400" cy="4476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191919"/>
                </a:solidFill>
                <a:latin typeface="DM Sans"/>
              </a:rPr>
              <a:t>Standardize Main Branch Name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190875"/>
            <a:ext cx="11277600" cy="3333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950" b="0" i="0" u="none">
                <a:solidFill>
                  <a:srgbClr val="2878D0"/>
                </a:solidFill>
                <a:latin typeface="JetBrains Mono"/>
              </a:rPr>
              <a:t>$ git branch -M main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4133850"/>
            <a:ext cx="4318062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2878D0"/>
                </a:solidFill>
                <a:latin typeface="JetBrains Mono"/>
              </a:rPr>
              <a:t>branch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4438650"/>
            <a:ext cx="4318062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525252"/>
                </a:solidFill>
                <a:latin typeface="DM Sans"/>
              </a:rPr>
              <a:t>Manages local branch pointers.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68849" y="4133850"/>
            <a:ext cx="4318062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2878D0"/>
                </a:solidFill>
                <a:latin typeface="JetBrains Mono"/>
              </a:rPr>
              <a:t>-M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68849" y="4438650"/>
            <a:ext cx="354969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525252"/>
                </a:solidFill>
                <a:latin typeface="DM Sans"/>
              </a:rPr>
              <a:t>Force-renames (`--move --force`) current branch.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28099" y="4133850"/>
            <a:ext cx="4063900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2878D0"/>
                </a:solidFill>
                <a:latin typeface="JetBrains Mono"/>
              </a:rPr>
              <a:t>main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28099" y="4438650"/>
            <a:ext cx="354969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525252"/>
                </a:solidFill>
                <a:latin typeface="DM Sans"/>
              </a:rPr>
              <a:t>Modern default branch name expected by GitHub.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3105150"/>
            <a:ext cx="5524500" cy="1609725"/>
          </a:xfrm>
          <a:prstGeom prst="roundRect">
            <a:avLst>
              <a:gd name="adj" fmla="val 4733"/>
            </a:avLst>
          </a:prstGeom>
          <a:solidFill>
            <a:srgbClr val="171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2878D0"/>
                </a:solidFill>
                <a:latin typeface="JetBrains Mono"/>
              </a:rPr>
              <a:t>42 // PUBLISHING COMMITS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704850"/>
            <a:ext cx="11582400" cy="4476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191919"/>
                </a:solidFill>
                <a:latin typeface="DM Sans"/>
              </a:rPr>
              <a:t>Push Commits to GitHub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6300" y="3371850"/>
            <a:ext cx="6238875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2878D0"/>
                </a:solidFill>
                <a:latin typeface="JetBrains Mono"/>
              </a:rPr>
              <a:t>$ git push -u origin main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6300" y="3733800"/>
            <a:ext cx="623887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A0A4AB"/>
                </a:solidFill>
                <a:latin typeface="JetBrains Mono"/>
              </a:rPr>
              <a:t>Enumerating objects: 9, done.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6300" y="3990975"/>
            <a:ext cx="623887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2E8B57"/>
                </a:solidFill>
                <a:latin typeface="JetBrains Mono"/>
              </a:rPr>
              <a:t>* [new branch] main -&gt; main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6300" y="4248150"/>
            <a:ext cx="623887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F7F6F2"/>
                </a:solidFill>
                <a:latin typeface="JetBrains Mono"/>
              </a:rPr>
              <a:t>branch 'main' set up to track 'origin/main'.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53225" y="2624137"/>
            <a:ext cx="66675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191919"/>
                </a:solidFill>
                <a:latin typeface="DM Sans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19900" y="2652712"/>
            <a:ext cx="4857750" cy="495300"/>
          </a:xfrm>
          <a:prstGeom prst="rect">
            <a:avLst/>
          </a:prstGeom>
          <a:noFill/>
        </p:spPr>
        <p:txBody>
          <a:bodyPr wrap="square" lIns="66675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91919"/>
                </a:solidFill>
                <a:latin typeface="DM Sans"/>
              </a:rPr>
              <a:t>push:</a:t>
            </a:r>
            <a:r>
              <a:rPr sz="1500" b="0" i="0" u="none">
                <a:solidFill>
                  <a:srgbClr val="191919"/>
                </a:solidFill>
                <a:latin typeface="DM Sans"/>
              </a:rPr>
              <a:t> Uploads local branch commits to the remote repository.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53225" y="3252787"/>
            <a:ext cx="66675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191919"/>
                </a:solidFill>
                <a:latin typeface="DM Sans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19900" y="3281362"/>
            <a:ext cx="4857750" cy="495300"/>
          </a:xfrm>
          <a:prstGeom prst="rect">
            <a:avLst/>
          </a:prstGeom>
          <a:noFill/>
        </p:spPr>
        <p:txBody>
          <a:bodyPr wrap="square" lIns="66675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91919"/>
                </a:solidFill>
                <a:latin typeface="DM Sans"/>
              </a:rPr>
              <a:t>-u (--set-upstream):</a:t>
            </a:r>
            <a:r>
              <a:rPr sz="1500" b="0" i="0" u="none">
                <a:solidFill>
                  <a:srgbClr val="191919"/>
                </a:solidFill>
                <a:latin typeface="DM Sans"/>
              </a:rPr>
              <a:t> Links local main to origin/main so future pushes only need git push.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53225" y="3881437"/>
            <a:ext cx="66675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191919"/>
                </a:solidFill>
                <a:latin typeface="DM Sans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19900" y="3910012"/>
            <a:ext cx="4857750" cy="495300"/>
          </a:xfrm>
          <a:prstGeom prst="rect">
            <a:avLst/>
          </a:prstGeom>
          <a:noFill/>
        </p:spPr>
        <p:txBody>
          <a:bodyPr wrap="square" lIns="66675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91919"/>
                </a:solidFill>
                <a:latin typeface="DM Sans"/>
              </a:rPr>
              <a:t>origin main:</a:t>
            </a:r>
            <a:r>
              <a:rPr sz="1500" b="0" i="0" u="none">
                <a:solidFill>
                  <a:srgbClr val="191919"/>
                </a:solidFill>
                <a:latin typeface="DM Sans"/>
              </a:rPr>
              <a:t> Pushes to remote origin on branch main.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53225" y="4510087"/>
            <a:ext cx="66675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191919"/>
                </a:solidFill>
                <a:latin typeface="DM Sans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19900" y="4538662"/>
            <a:ext cx="4857750" cy="495300"/>
          </a:xfrm>
          <a:prstGeom prst="rect">
            <a:avLst/>
          </a:prstGeom>
          <a:noFill/>
        </p:spPr>
        <p:txBody>
          <a:bodyPr wrap="square" lIns="66675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91919"/>
                </a:solidFill>
                <a:latin typeface="DM Sans"/>
              </a:rPr>
              <a:t>Result:</a:t>
            </a:r>
            <a:r>
              <a:rPr sz="1500" b="0" i="0" u="none">
                <a:solidFill>
                  <a:srgbClr val="191919"/>
                </a:solidFill>
                <a:latin typeface="DM Sans"/>
              </a:rPr>
              <a:t> Refresh GitHub in browser to see index.html!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695575"/>
            <a:ext cx="10972800" cy="1019175"/>
          </a:xfrm>
          <a:prstGeom prst="roundRect">
            <a:avLst>
              <a:gd name="adj" fmla="val 7476"/>
            </a:avLst>
          </a:prstGeom>
          <a:solidFill>
            <a:srgbClr val="171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2878D0"/>
                </a:solidFill>
                <a:latin typeface="JetBrains Mono"/>
              </a:rPr>
              <a:t>43 // DOWNLOADING REPOSITORIES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704850"/>
            <a:ext cx="11582400" cy="4476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191919"/>
                </a:solidFill>
                <a:latin typeface="DM Sans"/>
              </a:rPr>
              <a:t>Clone Existing Repository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4175"/>
            <a:ext cx="11277600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2878D0"/>
                </a:solidFill>
                <a:latin typeface="JetBrains Mono"/>
              </a:rPr>
              <a:t>$ git clone https://github.com/username/git-practice.git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67075"/>
            <a:ext cx="1127760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A0A4AB"/>
                </a:solidFill>
                <a:latin typeface="JetBrains Mono"/>
              </a:rPr>
              <a:t>Cloning into 'git-practice'... done.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1525" y="3952875"/>
            <a:ext cx="66675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191919"/>
                </a:solidFill>
                <a:latin typeface="DM Sans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200" y="3981450"/>
            <a:ext cx="11353800" cy="247650"/>
          </a:xfrm>
          <a:prstGeom prst="rect">
            <a:avLst/>
          </a:prstGeom>
          <a:noFill/>
        </p:spPr>
        <p:txBody>
          <a:bodyPr wrap="none" lIns="66675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91919"/>
                </a:solidFill>
                <a:latin typeface="DM Sans"/>
              </a:rPr>
              <a:t>Creates Folder:</a:t>
            </a:r>
            <a:r>
              <a:rPr sz="1500" b="0" i="0" u="none">
                <a:solidFill>
                  <a:srgbClr val="191919"/>
                </a:solidFill>
                <a:latin typeface="DM Sans"/>
              </a:rPr>
              <a:t> Automatically creates the project folder and downloads all files.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1525" y="4333875"/>
            <a:ext cx="66675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191919"/>
                </a:solidFill>
                <a:latin typeface="DM Sans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4362450"/>
            <a:ext cx="11353800" cy="247650"/>
          </a:xfrm>
          <a:prstGeom prst="rect">
            <a:avLst/>
          </a:prstGeom>
          <a:noFill/>
        </p:spPr>
        <p:txBody>
          <a:bodyPr wrap="none" lIns="66675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91919"/>
                </a:solidFill>
                <a:latin typeface="DM Sans"/>
              </a:rPr>
              <a:t>Full History:</a:t>
            </a:r>
            <a:r>
              <a:rPr sz="1500" b="0" i="0" u="none">
                <a:solidFill>
                  <a:srgbClr val="191919"/>
                </a:solidFill>
                <a:latin typeface="DM Sans"/>
              </a:rPr>
              <a:t> Copies the entire `.git` commit history and branches.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1525" y="4714875"/>
            <a:ext cx="66675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191919"/>
                </a:solidFill>
                <a:latin typeface="DM Sans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200" y="4743450"/>
            <a:ext cx="11353800" cy="247650"/>
          </a:xfrm>
          <a:prstGeom prst="rect">
            <a:avLst/>
          </a:prstGeom>
          <a:noFill/>
        </p:spPr>
        <p:txBody>
          <a:bodyPr wrap="none" lIns="66675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91919"/>
                </a:solidFill>
                <a:latin typeface="DM Sans"/>
              </a:rPr>
              <a:t>Auto-Configures Origin:</a:t>
            </a:r>
            <a:r>
              <a:rPr sz="1500" b="0" i="0" u="none">
                <a:solidFill>
                  <a:srgbClr val="191919"/>
                </a:solidFill>
                <a:latin typeface="DM Sans"/>
              </a:rPr>
              <a:t> Sets up `origin` remote automatically (no `git init` or `git remote add` needed).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2878D0"/>
                </a:solidFill>
                <a:latin typeface="JetBrains Mono"/>
              </a:rPr>
              <a:t>44 // SYNCING UPDATES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704850"/>
            <a:ext cx="11582400" cy="4476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191919"/>
                </a:solidFill>
                <a:latin typeface="DM Sans"/>
              </a:rPr>
              <a:t>Remote Sync: Fetch vs Pull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2867025"/>
            <a:ext cx="6280546" cy="2952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2878D0"/>
                </a:solidFill>
                <a:latin typeface="JetBrains Mono"/>
              </a:rPr>
              <a:t>$ git fetch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57962" y="2867025"/>
            <a:ext cx="5634037" cy="2952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2E8B57"/>
                </a:solidFill>
                <a:latin typeface="JetBrains Mono"/>
              </a:rPr>
              <a:t>$ git pull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1525" y="3286125"/>
            <a:ext cx="66675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191919"/>
                </a:solidFill>
                <a:latin typeface="DM Sans"/>
              </a:rP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8200" y="3314700"/>
            <a:ext cx="5994796" cy="247650"/>
          </a:xfrm>
          <a:prstGeom prst="rect">
            <a:avLst/>
          </a:prstGeom>
          <a:noFill/>
        </p:spPr>
        <p:txBody>
          <a:bodyPr wrap="none" lIns="66675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91919"/>
                </a:solidFill>
                <a:latin typeface="DM Sans"/>
              </a:rPr>
              <a:t>Action:</a:t>
            </a:r>
            <a:r>
              <a:rPr sz="1500" b="0" i="0" u="none">
                <a:solidFill>
                  <a:srgbClr val="191919"/>
                </a:solidFill>
                <a:latin typeface="DM Sans"/>
              </a:rPr>
              <a:t> Downloads new remote commits quietly.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1525" y="3667125"/>
            <a:ext cx="66675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191919"/>
                </a:solidFill>
                <a:latin typeface="DM Sans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8200" y="3695700"/>
            <a:ext cx="4891087" cy="495300"/>
          </a:xfrm>
          <a:prstGeom prst="rect">
            <a:avLst/>
          </a:prstGeom>
          <a:noFill/>
        </p:spPr>
        <p:txBody>
          <a:bodyPr wrap="square" lIns="66675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91919"/>
                </a:solidFill>
                <a:latin typeface="DM Sans"/>
              </a:rPr>
              <a:t>Working Files:</a:t>
            </a:r>
            <a:r>
              <a:rPr sz="1500" b="0" i="0" u="none">
                <a:solidFill>
                  <a:srgbClr val="191919"/>
                </a:solidFill>
                <a:latin typeface="DM Sans"/>
              </a:rPr>
              <a:t> Does NOT modify your open project files.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1525" y="4295775"/>
            <a:ext cx="66675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191919"/>
                </a:solidFill>
                <a:latin typeface="DM Sans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200" y="4324350"/>
            <a:ext cx="4891087" cy="495300"/>
          </a:xfrm>
          <a:prstGeom prst="rect">
            <a:avLst/>
          </a:prstGeom>
          <a:noFill/>
        </p:spPr>
        <p:txBody>
          <a:bodyPr wrap="square" lIns="66675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91919"/>
                </a:solidFill>
                <a:latin typeface="DM Sans"/>
              </a:rPr>
              <a:t>Use Case:</a:t>
            </a:r>
            <a:r>
              <a:rPr sz="1500" b="0" i="0" u="none">
                <a:solidFill>
                  <a:srgbClr val="191919"/>
                </a:solidFill>
                <a:latin typeface="DM Sans"/>
              </a:rPr>
              <a:t> Safely inspect teammate changes before merging.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19887" y="3286125"/>
            <a:ext cx="66675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191919"/>
                </a:solidFill>
                <a:latin typeface="DM Sans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86562" y="3314700"/>
            <a:ext cx="4891087" cy="495300"/>
          </a:xfrm>
          <a:prstGeom prst="rect">
            <a:avLst/>
          </a:prstGeom>
          <a:noFill/>
        </p:spPr>
        <p:txBody>
          <a:bodyPr wrap="square" lIns="66675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91919"/>
                </a:solidFill>
                <a:latin typeface="DM Sans"/>
              </a:rPr>
              <a:t>Action:</a:t>
            </a:r>
            <a:r>
              <a:rPr sz="1500" b="0" i="0" u="none">
                <a:solidFill>
                  <a:srgbClr val="191919"/>
                </a:solidFill>
                <a:latin typeface="DM Sans"/>
              </a:rPr>
              <a:t> Fetches remote updates AND integrates them immediately.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19887" y="3914775"/>
            <a:ext cx="66675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191919"/>
                </a:solidFill>
                <a:latin typeface="DM Sans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86562" y="3943350"/>
            <a:ext cx="4891087" cy="495300"/>
          </a:xfrm>
          <a:prstGeom prst="rect">
            <a:avLst/>
          </a:prstGeom>
          <a:noFill/>
        </p:spPr>
        <p:txBody>
          <a:bodyPr wrap="square" lIns="66675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91919"/>
                </a:solidFill>
                <a:latin typeface="DM Sans"/>
              </a:rPr>
              <a:t>Working Files:</a:t>
            </a:r>
            <a:r>
              <a:rPr sz="1500" b="0" i="0" u="none">
                <a:solidFill>
                  <a:srgbClr val="191919"/>
                </a:solidFill>
                <a:latin typeface="DM Sans"/>
              </a:rPr>
              <a:t> Updates your checked-out branch and files.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19887" y="4543425"/>
            <a:ext cx="66675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191919"/>
                </a:solidFill>
                <a:latin typeface="DM Sans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86562" y="4572000"/>
            <a:ext cx="5405437" cy="247650"/>
          </a:xfrm>
          <a:prstGeom prst="rect">
            <a:avLst/>
          </a:prstGeom>
          <a:noFill/>
        </p:spPr>
        <p:txBody>
          <a:bodyPr wrap="none" lIns="66675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91919"/>
                </a:solidFill>
                <a:latin typeface="DM Sans"/>
              </a:rPr>
              <a:t>Formula:</a:t>
            </a:r>
            <a:r>
              <a:rPr sz="1500" b="0" i="0" u="none">
                <a:solidFill>
                  <a:srgbClr val="191919"/>
                </a:solidFill>
                <a:latin typeface="DM Sans"/>
              </a:rPr>
              <a:t> Equivalent to running git fetch + integrate.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9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714500" y="3328987"/>
            <a:ext cx="8763000" cy="1400175"/>
          </a:xfrm>
          <a:prstGeom prst="roundRect">
            <a:avLst>
              <a:gd name="adj" fmla="val 5442"/>
            </a:avLst>
          </a:prstGeom>
          <a:solidFill>
            <a:srgbClr val="222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43375" y="1633537"/>
            <a:ext cx="390525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2878D0"/>
                </a:solidFill>
                <a:latin typeface="JetBrains Mono"/>
              </a:rPr>
              <a:t>45 // SECTION G: WRAP-UP &amp; LIVE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95537" y="1919287"/>
            <a:ext cx="7400925" cy="495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3000" b="1" i="0" u="none">
                <a:solidFill>
                  <a:srgbClr val="F7F6F2"/>
                </a:solidFill>
                <a:latin typeface="DM Sans"/>
              </a:rPr>
              <a:t>Complete Workshop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-166687" y="2605087"/>
            <a:ext cx="12525375" cy="419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75" b="0" i="0" u="none">
                <a:solidFill>
                  <a:srgbClr val="2E8B57"/>
                </a:solidFill>
                <a:latin typeface="JetBrains Mono"/>
              </a:rPr>
              <a:t>mkdir/cd → git init → Edit File → git status → git add → git diff --staged → git commit -m → git log --oneline → git remote add → git push -u origin main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8937" y="4995862"/>
            <a:ext cx="6334125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0" i="0" u="none">
                <a:solidFill>
                  <a:srgbClr val="A0A4AB"/>
                </a:solidFill>
                <a:latin typeface="DM Sans"/>
              </a:rPr>
              <a:t>Questions &amp; Live Debugging — Instructor: Sameer Ahmad Ansari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5343" y="3595687"/>
            <a:ext cx="10501312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650" b="1" i="0" u="none">
                <a:solidFill>
                  <a:srgbClr val="2878D0"/>
                </a:solidFill>
                <a:latin typeface="DM Sans"/>
              </a:rPr>
              <a:t>Hands-On Student Challenge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5375" y="3967162"/>
            <a:ext cx="10001250" cy="495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 i="0" u="none">
                <a:solidFill>
                  <a:srgbClr val="F7F6F2"/>
                </a:solidFill>
                <a:latin typeface="DM Sans"/>
              </a:rPr>
              <a:t>"Create a repository, make two commits, create a feature branch, add a navbar, and publish the project to GitHub."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60</TotalTime>
  <Words>2974</Words>
  <Application>Microsoft Office PowerPoint</Application>
  <PresentationFormat>Widescreen</PresentationFormat>
  <Paragraphs>518</Paragraphs>
  <Slides>45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50" baseType="lpstr">
      <vt:lpstr>JetBrains Mono</vt:lpstr>
      <vt:lpstr>DM Sans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Sameer Ahmad</cp:lastModifiedBy>
  <cp:revision>2</cp:revision>
  <dcterms:created xsi:type="dcterms:W3CDTF">2013-01-27T09:14:16Z</dcterms:created>
  <dcterms:modified xsi:type="dcterms:W3CDTF">2026-10-27T16:17:27Z</dcterms:modified>
  <cp:category/>
</cp:coreProperties>
</file>